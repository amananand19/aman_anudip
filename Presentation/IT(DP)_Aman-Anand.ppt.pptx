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85"/>
  </p:notesMasterIdLst>
  <p:handoutMasterIdLst>
    <p:handoutMasterId r:id="rId86"/>
  </p:handoutMasterIdLst>
  <p:sldIdLst>
    <p:sldId id="317" r:id="rId5"/>
    <p:sldId id="314" r:id="rId6"/>
    <p:sldId id="318" r:id="rId7"/>
    <p:sldId id="319" r:id="rId8"/>
    <p:sldId id="320" r:id="rId9"/>
    <p:sldId id="321" r:id="rId10"/>
    <p:sldId id="322" r:id="rId11"/>
    <p:sldId id="323" r:id="rId12"/>
    <p:sldId id="324" r:id="rId13"/>
    <p:sldId id="325" r:id="rId14"/>
    <p:sldId id="327" r:id="rId15"/>
    <p:sldId id="326" r:id="rId16"/>
    <p:sldId id="328" r:id="rId17"/>
    <p:sldId id="329" r:id="rId18"/>
    <p:sldId id="330" r:id="rId19"/>
    <p:sldId id="331" r:id="rId20"/>
    <p:sldId id="332" r:id="rId21"/>
    <p:sldId id="333" r:id="rId22"/>
    <p:sldId id="334" r:id="rId23"/>
    <p:sldId id="335" r:id="rId24"/>
    <p:sldId id="336" r:id="rId25"/>
    <p:sldId id="337" r:id="rId26"/>
    <p:sldId id="338" r:id="rId27"/>
    <p:sldId id="339" r:id="rId28"/>
    <p:sldId id="341" r:id="rId29"/>
    <p:sldId id="340" r:id="rId30"/>
    <p:sldId id="342" r:id="rId31"/>
    <p:sldId id="343" r:id="rId32"/>
    <p:sldId id="344" r:id="rId33"/>
    <p:sldId id="345" r:id="rId34"/>
    <p:sldId id="346" r:id="rId35"/>
    <p:sldId id="347" r:id="rId36"/>
    <p:sldId id="349" r:id="rId37"/>
    <p:sldId id="348" r:id="rId38"/>
    <p:sldId id="350" r:id="rId39"/>
    <p:sldId id="351" r:id="rId40"/>
    <p:sldId id="352" r:id="rId41"/>
    <p:sldId id="353" r:id="rId42"/>
    <p:sldId id="354" r:id="rId43"/>
    <p:sldId id="355" r:id="rId44"/>
    <p:sldId id="357" r:id="rId45"/>
    <p:sldId id="356" r:id="rId46"/>
    <p:sldId id="358" r:id="rId47"/>
    <p:sldId id="359" r:id="rId48"/>
    <p:sldId id="360" r:id="rId49"/>
    <p:sldId id="361" r:id="rId50"/>
    <p:sldId id="362" r:id="rId51"/>
    <p:sldId id="363" r:id="rId52"/>
    <p:sldId id="365" r:id="rId53"/>
    <p:sldId id="366" r:id="rId54"/>
    <p:sldId id="364" r:id="rId55"/>
    <p:sldId id="367" r:id="rId56"/>
    <p:sldId id="368" r:id="rId57"/>
    <p:sldId id="369" r:id="rId58"/>
    <p:sldId id="370" r:id="rId59"/>
    <p:sldId id="371" r:id="rId60"/>
    <p:sldId id="372" r:id="rId61"/>
    <p:sldId id="373" r:id="rId62"/>
    <p:sldId id="374" r:id="rId63"/>
    <p:sldId id="375" r:id="rId64"/>
    <p:sldId id="376" r:id="rId65"/>
    <p:sldId id="377" r:id="rId66"/>
    <p:sldId id="378" r:id="rId67"/>
    <p:sldId id="379" r:id="rId68"/>
    <p:sldId id="380" r:id="rId69"/>
    <p:sldId id="381" r:id="rId70"/>
    <p:sldId id="382" r:id="rId71"/>
    <p:sldId id="383" r:id="rId72"/>
    <p:sldId id="384" r:id="rId73"/>
    <p:sldId id="385" r:id="rId74"/>
    <p:sldId id="386" r:id="rId75"/>
    <p:sldId id="387" r:id="rId76"/>
    <p:sldId id="388" r:id="rId77"/>
    <p:sldId id="389" r:id="rId78"/>
    <p:sldId id="390" r:id="rId79"/>
    <p:sldId id="392" r:id="rId80"/>
    <p:sldId id="391" r:id="rId81"/>
    <p:sldId id="393" r:id="rId82"/>
    <p:sldId id="394" r:id="rId83"/>
    <p:sldId id="395"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161A35-8E9B-4914-AA62-F012A27F3C59}" v="58" dt="2026-05-09T07:03:05.154"/>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85" d="100"/>
          <a:sy n="85" d="100"/>
        </p:scale>
        <p:origin x="590" y="4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5/13/2026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5/13/2026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FCFC0-907B-1CAA-5B81-58BEC1F0F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D5619-CF83-18CC-9470-183E1D3BF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D1872-9F08-AA9C-8431-D73BA728B7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D524FC-26B4-374D-B6AE-7C118A364FF3}"/>
              </a:ext>
            </a:extLst>
          </p:cNvPr>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003601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C8C5B-98D6-90E7-526A-3CABA5154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C3F1A-7070-D180-BF8D-81E20AC84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4233DE-760A-9880-5F9D-EC5C815E8C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9EB350-A3A1-DB71-E9EA-0F1BD1778F6A}"/>
              </a:ext>
            </a:extLst>
          </p:cNvPr>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2055953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5C5FC-B549-B386-3811-79054F685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9DF7D-0F2F-9CDA-F8C9-F32B40F4B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AA2498-B13C-4FFC-4C33-C19DAA6327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6348C8-3EB9-52DB-C8FF-809814C6446F}"/>
              </a:ext>
            </a:extLst>
          </p:cNvPr>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3274729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4FF74-58C9-343D-6B8D-F20F158C1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EB493-AB1D-513C-B61E-35A374A43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0D278-B187-36F1-40B2-57E885B4C7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3C6305-5EBF-590C-F629-B7D55B45517B}"/>
              </a:ext>
            </a:extLst>
          </p:cNvPr>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581534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1A717-6BDA-08D9-E99B-369ECC584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BA888-9F02-6C84-4DB7-9A83E367A5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176D4-9338-3819-8CB0-2DE1A2FF16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F12A14-B720-532F-4FD4-473BAE1CC901}"/>
              </a:ext>
            </a:extLst>
          </p:cNvPr>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589829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83106-DD84-5A7C-4063-C074E6F303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AC311-C69D-894B-259C-DC04C1A10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D97CF-08E2-2564-1806-1687B036E3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E579C5-D0C0-DE1C-1BE3-C2A093E6E924}"/>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2997596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98385-EA8E-A3F0-C04A-1149E2288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30E8A-4BEF-9962-3B85-E5868CC67E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35393-1039-4973-B049-7CB2CC55E5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5463DC-F445-222E-35CE-201B79D90EAA}"/>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573379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AEFA5-9862-353B-DAA2-1C3EBA0EB1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6258D-5665-66E6-5E99-C04FB3451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AA94CA-6AD5-539A-89A1-C788673BCF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7084A0-6D51-30D9-8C3A-380AC5BEDCEF}"/>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3778108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B489B-2E7B-8548-D057-07E791484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5AA45A-4DF2-C70A-8164-6EC0B2514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5A0DD9-E79E-75DD-2EED-8D6656B408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5F6587-3179-BE68-AB76-AF59DC53A412}"/>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3191467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C8FF9-A6AE-5224-2174-EC607954B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46843-5440-83A6-C640-34CA57152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221BF-3EAF-F4DF-A2D4-8829E86287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438052-5122-4820-8E2B-D06217ACECF3}"/>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3989213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399AE-09C2-8E2E-BF94-97839B18C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C6930-CBFA-202D-9449-D033E2B089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AF5E1-56C1-146D-CBBA-0E858B8D08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945E6A-FE22-6376-4AEA-9ADFCE47D596}"/>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1640599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70C95-1591-57A6-C400-D2DB61A3D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B38F6-37D8-F100-00B1-B2572D34AD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E4B35-5839-479E-A3B6-684D305990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D2FAC2-F134-6D83-5366-2B22E66B7014}"/>
              </a:ext>
            </a:extLst>
          </p:cNvPr>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3921862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89471-8129-21BE-4F2E-FDFB8C6DF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CFC6F-6E29-B43A-536B-A49ADE0E11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6BA78-782E-921C-7AA6-707E1F7CD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705160-F0A8-1697-1263-752EB47D7529}"/>
              </a:ext>
            </a:extLst>
          </p:cNvPr>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688576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60CCE-A5A5-EC39-0AC1-CE788C09A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5073F-6C01-853A-4E19-0117432ABA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2BD6B4-6ED3-F872-C866-F3D0107E31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6B508E-3F2B-D349-8C44-04703DBB880E}"/>
              </a:ext>
            </a:extLst>
          </p:cNvPr>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1076272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E7A2E-F28F-74DD-358C-DF21ED7D0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FC328-F939-D068-6DF9-1A182907A2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8EF2E-C810-B2CA-9041-19E500D66C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F4667A-03C0-8A06-9E75-E1FC14A4F283}"/>
              </a:ext>
            </a:extLst>
          </p:cNvPr>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3722892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E6FE9-A1B9-C9D3-E5D1-182C5124F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ED66A-C0BD-C14D-7AC1-F46EDFAC2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ADA95D-61B1-FFE3-5EE1-14E7179DAF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32AF0C-27E5-96A0-07DC-8F676DC6259C}"/>
              </a:ext>
            </a:extLst>
          </p:cNvPr>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41499214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CD25D-2C9D-8DFB-4116-C9904D5E99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1D1CD6-4A6F-A60C-BE71-F7E0E39A9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D8A018-6D20-E2AC-86F0-9E33DD1473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C926D0-650F-5180-4E73-D475DE7557D1}"/>
              </a:ext>
            </a:extLst>
          </p:cNvPr>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3860717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18632-6064-3257-0CC8-AD47F379E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BE954-5A2A-7889-52C4-C47A22612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87529-9135-0D3E-0BCB-7171079E71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D9315A-DCF0-C0D2-6B25-9BFBF664CDFF}"/>
              </a:ext>
            </a:extLst>
          </p:cNvPr>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31316297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4AA56-A9AD-91EC-6005-FCE6FE33F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F03E1-6C9E-A36F-8795-1FBA60DEE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A0821-965E-3650-0DEC-E846B2C237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1F52C7-3AAD-00DB-FE1A-CB1F49138E0B}"/>
              </a:ext>
            </a:extLst>
          </p:cNvPr>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11711809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762AF-597E-D7AF-6890-738F57306C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9FF716-9653-7170-0CE4-654E035664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F9FA52-7E77-029D-E91E-11A37098A1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F7A805-A394-C4D4-6961-A56AC055F31B}"/>
              </a:ext>
            </a:extLst>
          </p:cNvPr>
          <p:cNvSpPr>
            <a:spLocks noGrp="1"/>
          </p:cNvSpPr>
          <p:nvPr>
            <p:ph type="sldNum" sz="quarter" idx="5"/>
          </p:nvPr>
        </p:nvSpPr>
        <p:spPr/>
        <p:txBody>
          <a:bodyPr/>
          <a:lstStyle/>
          <a:p>
            <a:fld id="{7C366290-4595-5745-A50F-D5EC13BAC604}" type="slidenum">
              <a:rPr lang="en-US" noProof="0" smtClean="0"/>
              <a:t>22</a:t>
            </a:fld>
            <a:endParaRPr lang="en-US" noProof="0" dirty="0"/>
          </a:p>
        </p:txBody>
      </p:sp>
    </p:spTree>
    <p:extLst>
      <p:ext uri="{BB962C8B-B14F-4D97-AF65-F5344CB8AC3E}">
        <p14:creationId xmlns:p14="http://schemas.microsoft.com/office/powerpoint/2010/main" val="21445699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E5407-6BE6-935E-BC88-5ABA15F04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E8440-FB77-099B-30BE-B30E2D774A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1DD8C4-FA21-6055-9D75-693276A312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8C4710-19BB-32D0-3C2E-B64A0730E087}"/>
              </a:ext>
            </a:extLst>
          </p:cNvPr>
          <p:cNvSpPr>
            <a:spLocks noGrp="1"/>
          </p:cNvSpPr>
          <p:nvPr>
            <p:ph type="sldNum" sz="quarter" idx="5"/>
          </p:nvPr>
        </p:nvSpPr>
        <p:spPr/>
        <p:txBody>
          <a:bodyPr/>
          <a:lstStyle/>
          <a:p>
            <a:fld id="{7C366290-4595-5745-A50F-D5EC13BAC604}" type="slidenum">
              <a:rPr lang="en-US" noProof="0" smtClean="0"/>
              <a:t>23</a:t>
            </a:fld>
            <a:endParaRPr lang="en-US" noProof="0" dirty="0"/>
          </a:p>
        </p:txBody>
      </p:sp>
    </p:spTree>
    <p:extLst>
      <p:ext uri="{BB962C8B-B14F-4D97-AF65-F5344CB8AC3E}">
        <p14:creationId xmlns:p14="http://schemas.microsoft.com/office/powerpoint/2010/main" val="41089408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F20B6-906E-7F5A-3E41-64E384D9DF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88A4A-8F16-21B7-5CCE-1CD829570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69A34-3D67-F595-276E-1ED657105A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28F2E-0785-9F01-C5DE-4D4569E63A08}"/>
              </a:ext>
            </a:extLst>
          </p:cNvPr>
          <p:cNvSpPr>
            <a:spLocks noGrp="1"/>
          </p:cNvSpPr>
          <p:nvPr>
            <p:ph type="sldNum" sz="quarter" idx="5"/>
          </p:nvPr>
        </p:nvSpPr>
        <p:spPr/>
        <p:txBody>
          <a:bodyPr/>
          <a:lstStyle/>
          <a:p>
            <a:fld id="{7C366290-4595-5745-A50F-D5EC13BAC604}" type="slidenum">
              <a:rPr lang="en-US" noProof="0" smtClean="0"/>
              <a:t>24</a:t>
            </a:fld>
            <a:endParaRPr lang="en-US" noProof="0" dirty="0"/>
          </a:p>
        </p:txBody>
      </p:sp>
    </p:spTree>
    <p:extLst>
      <p:ext uri="{BB962C8B-B14F-4D97-AF65-F5344CB8AC3E}">
        <p14:creationId xmlns:p14="http://schemas.microsoft.com/office/powerpoint/2010/main" val="29937788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B1864-1B21-CEF6-F7EA-42E2E52EA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B6FA6-3F2B-86E3-1583-5D7C78779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2834D-39C1-68E6-1EEF-D5DDCAE80B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336E6F-801E-8F18-41B3-8E487025C792}"/>
              </a:ext>
            </a:extLst>
          </p:cNvPr>
          <p:cNvSpPr>
            <a:spLocks noGrp="1"/>
          </p:cNvSpPr>
          <p:nvPr>
            <p:ph type="sldNum" sz="quarter" idx="5"/>
          </p:nvPr>
        </p:nvSpPr>
        <p:spPr/>
        <p:txBody>
          <a:bodyPr/>
          <a:lstStyle/>
          <a:p>
            <a:fld id="{7C366290-4595-5745-A50F-D5EC13BAC604}" type="slidenum">
              <a:rPr lang="en-US" noProof="0" smtClean="0"/>
              <a:t>25</a:t>
            </a:fld>
            <a:endParaRPr lang="en-US" noProof="0" dirty="0"/>
          </a:p>
        </p:txBody>
      </p:sp>
    </p:spTree>
    <p:extLst>
      <p:ext uri="{BB962C8B-B14F-4D97-AF65-F5344CB8AC3E}">
        <p14:creationId xmlns:p14="http://schemas.microsoft.com/office/powerpoint/2010/main" val="19372816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90116-F1A8-9279-50A1-F111782D3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0D054-2425-356A-2AF2-471A24B8F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DBAAEF-10FD-4D7B-5657-482F0F1028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F122C6-B8E1-FFFD-C4A2-D5C06F8894E5}"/>
              </a:ext>
            </a:extLst>
          </p:cNvPr>
          <p:cNvSpPr>
            <a:spLocks noGrp="1"/>
          </p:cNvSpPr>
          <p:nvPr>
            <p:ph type="sldNum" sz="quarter" idx="5"/>
          </p:nvPr>
        </p:nvSpPr>
        <p:spPr/>
        <p:txBody>
          <a:bodyPr/>
          <a:lstStyle/>
          <a:p>
            <a:fld id="{7C366290-4595-5745-A50F-D5EC13BAC604}" type="slidenum">
              <a:rPr lang="en-US" noProof="0" smtClean="0"/>
              <a:t>26</a:t>
            </a:fld>
            <a:endParaRPr lang="en-US" noProof="0" dirty="0"/>
          </a:p>
        </p:txBody>
      </p:sp>
    </p:spTree>
    <p:extLst>
      <p:ext uri="{BB962C8B-B14F-4D97-AF65-F5344CB8AC3E}">
        <p14:creationId xmlns:p14="http://schemas.microsoft.com/office/powerpoint/2010/main" val="23119730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53AA-AB30-EBF6-4560-43CC0D130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CAD847-91AA-0C74-1F05-8C81A08DBF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BF037F-A871-D3F9-FD3D-2942410CA0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C39BF7-08C2-0789-DCDB-422BF8D6EC3B}"/>
              </a:ext>
            </a:extLst>
          </p:cNvPr>
          <p:cNvSpPr>
            <a:spLocks noGrp="1"/>
          </p:cNvSpPr>
          <p:nvPr>
            <p:ph type="sldNum" sz="quarter" idx="5"/>
          </p:nvPr>
        </p:nvSpPr>
        <p:spPr/>
        <p:txBody>
          <a:bodyPr/>
          <a:lstStyle/>
          <a:p>
            <a:fld id="{7C366290-4595-5745-A50F-D5EC13BAC604}" type="slidenum">
              <a:rPr lang="en-US" noProof="0" smtClean="0"/>
              <a:t>27</a:t>
            </a:fld>
            <a:endParaRPr lang="en-US" noProof="0" dirty="0"/>
          </a:p>
        </p:txBody>
      </p:sp>
    </p:spTree>
    <p:extLst>
      <p:ext uri="{BB962C8B-B14F-4D97-AF65-F5344CB8AC3E}">
        <p14:creationId xmlns:p14="http://schemas.microsoft.com/office/powerpoint/2010/main" val="5464938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D032B-846C-C3C4-10E5-CE17C85E5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6F9C2-0EC6-A34F-AB77-D3E2B993E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9D5FC-AF5D-4B85-FFF2-F7E03D590F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BE41BD-E305-6166-CBE1-CA4920F51E9F}"/>
              </a:ext>
            </a:extLst>
          </p:cNvPr>
          <p:cNvSpPr>
            <a:spLocks noGrp="1"/>
          </p:cNvSpPr>
          <p:nvPr>
            <p:ph type="sldNum" sz="quarter" idx="5"/>
          </p:nvPr>
        </p:nvSpPr>
        <p:spPr/>
        <p:txBody>
          <a:bodyPr/>
          <a:lstStyle/>
          <a:p>
            <a:fld id="{7C366290-4595-5745-A50F-D5EC13BAC604}" type="slidenum">
              <a:rPr lang="en-US" noProof="0" smtClean="0"/>
              <a:t>28</a:t>
            </a:fld>
            <a:endParaRPr lang="en-US" noProof="0" dirty="0"/>
          </a:p>
        </p:txBody>
      </p:sp>
    </p:spTree>
    <p:extLst>
      <p:ext uri="{BB962C8B-B14F-4D97-AF65-F5344CB8AC3E}">
        <p14:creationId xmlns:p14="http://schemas.microsoft.com/office/powerpoint/2010/main" val="526709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A9986-5316-3733-66C1-413F404EA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4D803-DDCF-AF6C-F68A-27A16DFDE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9B95DE-7077-6BF7-C3BA-6D80EAE438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1FE49E-F4E8-5BF8-FF7A-B198CD1CA7B0}"/>
              </a:ext>
            </a:extLst>
          </p:cNvPr>
          <p:cNvSpPr>
            <a:spLocks noGrp="1"/>
          </p:cNvSpPr>
          <p:nvPr>
            <p:ph type="sldNum" sz="quarter" idx="5"/>
          </p:nvPr>
        </p:nvSpPr>
        <p:spPr/>
        <p:txBody>
          <a:bodyPr/>
          <a:lstStyle/>
          <a:p>
            <a:fld id="{7C366290-4595-5745-A50F-D5EC13BAC604}" type="slidenum">
              <a:rPr lang="en-US" noProof="0" smtClean="0"/>
              <a:t>29</a:t>
            </a:fld>
            <a:endParaRPr lang="en-US" noProof="0" dirty="0"/>
          </a:p>
        </p:txBody>
      </p:sp>
    </p:spTree>
    <p:extLst>
      <p:ext uri="{BB962C8B-B14F-4D97-AF65-F5344CB8AC3E}">
        <p14:creationId xmlns:p14="http://schemas.microsoft.com/office/powerpoint/2010/main" val="30910458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F1994-00A0-4E4C-29FB-875395530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24C70-10E2-3987-8D43-753F69BF0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21DF92-9E15-B66A-BEC7-EDEB496F3C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44C93C-98A5-C73A-6342-00591732085C}"/>
              </a:ext>
            </a:extLst>
          </p:cNvPr>
          <p:cNvSpPr>
            <a:spLocks noGrp="1"/>
          </p:cNvSpPr>
          <p:nvPr>
            <p:ph type="sldNum" sz="quarter" idx="5"/>
          </p:nvPr>
        </p:nvSpPr>
        <p:spPr/>
        <p:txBody>
          <a:bodyPr/>
          <a:lstStyle/>
          <a:p>
            <a:fld id="{7C366290-4595-5745-A50F-D5EC13BAC604}" type="slidenum">
              <a:rPr lang="en-US" noProof="0" smtClean="0"/>
              <a:t>30</a:t>
            </a:fld>
            <a:endParaRPr lang="en-US" noProof="0" dirty="0"/>
          </a:p>
        </p:txBody>
      </p:sp>
    </p:spTree>
    <p:extLst>
      <p:ext uri="{BB962C8B-B14F-4D97-AF65-F5344CB8AC3E}">
        <p14:creationId xmlns:p14="http://schemas.microsoft.com/office/powerpoint/2010/main" val="22685475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64434-56DC-658B-66E1-6BDDB101F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D779E-5F82-3FB0-A3B2-DBD3972AA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98614B-E1B2-8986-1948-6C164D2874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1452E7-30CB-08FE-4167-D44D71711B75}"/>
              </a:ext>
            </a:extLst>
          </p:cNvPr>
          <p:cNvSpPr>
            <a:spLocks noGrp="1"/>
          </p:cNvSpPr>
          <p:nvPr>
            <p:ph type="sldNum" sz="quarter" idx="5"/>
          </p:nvPr>
        </p:nvSpPr>
        <p:spPr/>
        <p:txBody>
          <a:bodyPr/>
          <a:lstStyle/>
          <a:p>
            <a:fld id="{7C366290-4595-5745-A50F-D5EC13BAC604}" type="slidenum">
              <a:rPr lang="en-US" noProof="0" smtClean="0"/>
              <a:t>31</a:t>
            </a:fld>
            <a:endParaRPr lang="en-US" noProof="0" dirty="0"/>
          </a:p>
        </p:txBody>
      </p:sp>
    </p:spTree>
    <p:extLst>
      <p:ext uri="{BB962C8B-B14F-4D97-AF65-F5344CB8AC3E}">
        <p14:creationId xmlns:p14="http://schemas.microsoft.com/office/powerpoint/2010/main" val="14821498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5021B-BD61-FEC9-5232-756EDAF8E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8F816-A406-D8FB-6765-56B51FFDD1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0A263E-0242-B348-89F6-93829FE9E8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10FB20-3B10-173C-0844-A78BF123DEC5}"/>
              </a:ext>
            </a:extLst>
          </p:cNvPr>
          <p:cNvSpPr>
            <a:spLocks noGrp="1"/>
          </p:cNvSpPr>
          <p:nvPr>
            <p:ph type="sldNum" sz="quarter" idx="5"/>
          </p:nvPr>
        </p:nvSpPr>
        <p:spPr/>
        <p:txBody>
          <a:bodyPr/>
          <a:lstStyle/>
          <a:p>
            <a:fld id="{7C366290-4595-5745-A50F-D5EC13BAC604}" type="slidenum">
              <a:rPr lang="en-US" noProof="0" smtClean="0"/>
              <a:t>32</a:t>
            </a:fld>
            <a:endParaRPr lang="en-US" noProof="0" dirty="0"/>
          </a:p>
        </p:txBody>
      </p:sp>
    </p:spTree>
    <p:extLst>
      <p:ext uri="{BB962C8B-B14F-4D97-AF65-F5344CB8AC3E}">
        <p14:creationId xmlns:p14="http://schemas.microsoft.com/office/powerpoint/2010/main" val="10238734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BDD66-2794-4EAA-4AA8-D54250DEE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5D1B5-2906-26F5-2510-310CC2B271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C76AE-EB33-5232-843E-967DA40900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1C4382-9D3A-53C1-3FC7-8CCC9CADD53D}"/>
              </a:ext>
            </a:extLst>
          </p:cNvPr>
          <p:cNvSpPr>
            <a:spLocks noGrp="1"/>
          </p:cNvSpPr>
          <p:nvPr>
            <p:ph type="sldNum" sz="quarter" idx="5"/>
          </p:nvPr>
        </p:nvSpPr>
        <p:spPr/>
        <p:txBody>
          <a:bodyPr/>
          <a:lstStyle/>
          <a:p>
            <a:fld id="{7C366290-4595-5745-A50F-D5EC13BAC604}" type="slidenum">
              <a:rPr lang="en-US" noProof="0" smtClean="0"/>
              <a:t>33</a:t>
            </a:fld>
            <a:endParaRPr lang="en-US" noProof="0" dirty="0"/>
          </a:p>
        </p:txBody>
      </p:sp>
    </p:spTree>
    <p:extLst>
      <p:ext uri="{BB962C8B-B14F-4D97-AF65-F5344CB8AC3E}">
        <p14:creationId xmlns:p14="http://schemas.microsoft.com/office/powerpoint/2010/main" val="11571056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6421D-C648-2994-C487-E59FD83FB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D8A6A-6BAB-F3E2-9DE6-A06C1CF37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AAF75-BE2D-2631-FCAE-931CBCE7A0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458441-2B32-4D1B-67F2-420F9631BEB6}"/>
              </a:ext>
            </a:extLst>
          </p:cNvPr>
          <p:cNvSpPr>
            <a:spLocks noGrp="1"/>
          </p:cNvSpPr>
          <p:nvPr>
            <p:ph type="sldNum" sz="quarter" idx="5"/>
          </p:nvPr>
        </p:nvSpPr>
        <p:spPr/>
        <p:txBody>
          <a:bodyPr/>
          <a:lstStyle/>
          <a:p>
            <a:fld id="{7C366290-4595-5745-A50F-D5EC13BAC604}" type="slidenum">
              <a:rPr lang="en-US" noProof="0" smtClean="0"/>
              <a:t>34</a:t>
            </a:fld>
            <a:endParaRPr lang="en-US" noProof="0" dirty="0"/>
          </a:p>
        </p:txBody>
      </p:sp>
    </p:spTree>
    <p:extLst>
      <p:ext uri="{BB962C8B-B14F-4D97-AF65-F5344CB8AC3E}">
        <p14:creationId xmlns:p14="http://schemas.microsoft.com/office/powerpoint/2010/main" val="12929718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62038-0563-CF62-8100-A89381CCD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38DA0-6839-EC92-674A-BE321AB8E9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97C983-6875-60D2-C280-1F83C2CC34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D56019-FBFA-C794-4369-3AF9DADDB712}"/>
              </a:ext>
            </a:extLst>
          </p:cNvPr>
          <p:cNvSpPr>
            <a:spLocks noGrp="1"/>
          </p:cNvSpPr>
          <p:nvPr>
            <p:ph type="sldNum" sz="quarter" idx="5"/>
          </p:nvPr>
        </p:nvSpPr>
        <p:spPr/>
        <p:txBody>
          <a:bodyPr/>
          <a:lstStyle/>
          <a:p>
            <a:fld id="{7C366290-4595-5745-A50F-D5EC13BAC604}" type="slidenum">
              <a:rPr lang="en-US" noProof="0" smtClean="0"/>
              <a:t>35</a:t>
            </a:fld>
            <a:endParaRPr lang="en-US" noProof="0" dirty="0"/>
          </a:p>
        </p:txBody>
      </p:sp>
    </p:spTree>
    <p:extLst>
      <p:ext uri="{BB962C8B-B14F-4D97-AF65-F5344CB8AC3E}">
        <p14:creationId xmlns:p14="http://schemas.microsoft.com/office/powerpoint/2010/main" val="113562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5613C-617E-07C7-51AE-698EECF77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95BBFE-825B-FD8E-A190-5145ADE15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4626D0-6912-E122-807E-627526E009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80F15D-FEC1-7151-5830-08993E90E26D}"/>
              </a:ext>
            </a:extLst>
          </p:cNvPr>
          <p:cNvSpPr>
            <a:spLocks noGrp="1"/>
          </p:cNvSpPr>
          <p:nvPr>
            <p:ph type="sldNum" sz="quarter" idx="5"/>
          </p:nvPr>
        </p:nvSpPr>
        <p:spPr/>
        <p:txBody>
          <a:bodyPr/>
          <a:lstStyle/>
          <a:p>
            <a:fld id="{7C366290-4595-5745-A50F-D5EC13BAC604}" type="slidenum">
              <a:rPr lang="en-US" noProof="0" smtClean="0"/>
              <a:t>36</a:t>
            </a:fld>
            <a:endParaRPr lang="en-US" noProof="0" dirty="0"/>
          </a:p>
        </p:txBody>
      </p:sp>
    </p:spTree>
    <p:extLst>
      <p:ext uri="{BB962C8B-B14F-4D97-AF65-F5344CB8AC3E}">
        <p14:creationId xmlns:p14="http://schemas.microsoft.com/office/powerpoint/2010/main" val="32570674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C1E0F-251C-4452-BA60-4B594A4E2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96A6D-85ED-EC95-3DFD-64D31FF39D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2739D-2928-AE4A-00FD-386B847A14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8F663F-D976-72E2-5DF1-C11D1C71EADA}"/>
              </a:ext>
            </a:extLst>
          </p:cNvPr>
          <p:cNvSpPr>
            <a:spLocks noGrp="1"/>
          </p:cNvSpPr>
          <p:nvPr>
            <p:ph type="sldNum" sz="quarter" idx="5"/>
          </p:nvPr>
        </p:nvSpPr>
        <p:spPr/>
        <p:txBody>
          <a:bodyPr/>
          <a:lstStyle/>
          <a:p>
            <a:fld id="{7C366290-4595-5745-A50F-D5EC13BAC604}" type="slidenum">
              <a:rPr lang="en-US" noProof="0" smtClean="0"/>
              <a:t>37</a:t>
            </a:fld>
            <a:endParaRPr lang="en-US" noProof="0" dirty="0"/>
          </a:p>
        </p:txBody>
      </p:sp>
    </p:spTree>
    <p:extLst>
      <p:ext uri="{BB962C8B-B14F-4D97-AF65-F5344CB8AC3E}">
        <p14:creationId xmlns:p14="http://schemas.microsoft.com/office/powerpoint/2010/main" val="5896045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621CE-01CA-C6E0-CCAE-90865900F2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F51EB-0ACD-07EC-DFC8-595B2474FB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492E0-A8EA-0E55-01F1-91E2EB535F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0DC0BF-8130-6BE1-5933-07D378CEE726}"/>
              </a:ext>
            </a:extLst>
          </p:cNvPr>
          <p:cNvSpPr>
            <a:spLocks noGrp="1"/>
          </p:cNvSpPr>
          <p:nvPr>
            <p:ph type="sldNum" sz="quarter" idx="5"/>
          </p:nvPr>
        </p:nvSpPr>
        <p:spPr/>
        <p:txBody>
          <a:bodyPr/>
          <a:lstStyle/>
          <a:p>
            <a:fld id="{7C366290-4595-5745-A50F-D5EC13BAC604}" type="slidenum">
              <a:rPr lang="en-US" noProof="0" smtClean="0"/>
              <a:t>38</a:t>
            </a:fld>
            <a:endParaRPr lang="en-US" noProof="0" dirty="0"/>
          </a:p>
        </p:txBody>
      </p:sp>
    </p:spTree>
    <p:extLst>
      <p:ext uri="{BB962C8B-B14F-4D97-AF65-F5344CB8AC3E}">
        <p14:creationId xmlns:p14="http://schemas.microsoft.com/office/powerpoint/2010/main" val="40762663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BE6AE-215A-0E65-39C6-3B5638637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E073D-D6E8-3F22-1520-AD753CF1B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1DB07-EE32-02AC-D4A4-4C84F6EFD6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6A55B7-B5B2-BDF1-F8FC-861A64BAF83F}"/>
              </a:ext>
            </a:extLst>
          </p:cNvPr>
          <p:cNvSpPr>
            <a:spLocks noGrp="1"/>
          </p:cNvSpPr>
          <p:nvPr>
            <p:ph type="sldNum" sz="quarter" idx="5"/>
          </p:nvPr>
        </p:nvSpPr>
        <p:spPr/>
        <p:txBody>
          <a:bodyPr/>
          <a:lstStyle/>
          <a:p>
            <a:fld id="{7C366290-4595-5745-A50F-D5EC13BAC604}" type="slidenum">
              <a:rPr lang="en-US" noProof="0" smtClean="0"/>
              <a:t>39</a:t>
            </a:fld>
            <a:endParaRPr lang="en-US" noProof="0" dirty="0"/>
          </a:p>
        </p:txBody>
      </p:sp>
    </p:spTree>
    <p:extLst>
      <p:ext uri="{BB962C8B-B14F-4D97-AF65-F5344CB8AC3E}">
        <p14:creationId xmlns:p14="http://schemas.microsoft.com/office/powerpoint/2010/main" val="23620177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2D8AB-DA58-2A3F-EF05-465A8B267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A8B44-5FF2-EF27-2862-66BFF6E89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18FF3-DBBA-6C22-2D74-428D527B5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05C051-0290-7F49-2853-12B7AFFDFF7A}"/>
              </a:ext>
            </a:extLst>
          </p:cNvPr>
          <p:cNvSpPr>
            <a:spLocks noGrp="1"/>
          </p:cNvSpPr>
          <p:nvPr>
            <p:ph type="sldNum" sz="quarter" idx="5"/>
          </p:nvPr>
        </p:nvSpPr>
        <p:spPr/>
        <p:txBody>
          <a:bodyPr/>
          <a:lstStyle/>
          <a:p>
            <a:fld id="{7C366290-4595-5745-A50F-D5EC13BAC604}" type="slidenum">
              <a:rPr lang="en-US" noProof="0" smtClean="0"/>
              <a:t>40</a:t>
            </a:fld>
            <a:endParaRPr lang="en-US" noProof="0" dirty="0"/>
          </a:p>
        </p:txBody>
      </p:sp>
    </p:spTree>
    <p:extLst>
      <p:ext uri="{BB962C8B-B14F-4D97-AF65-F5344CB8AC3E}">
        <p14:creationId xmlns:p14="http://schemas.microsoft.com/office/powerpoint/2010/main" val="486942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3A305-4EE4-1C6C-437C-B54B3A885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0532D-5D51-0EB9-2D7D-54B78A704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209300-EF52-8AFD-6CB3-1FD314B30D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A111C2-F71D-D29B-19BF-96F7B338D9B7}"/>
              </a:ext>
            </a:extLst>
          </p:cNvPr>
          <p:cNvSpPr>
            <a:spLocks noGrp="1"/>
          </p:cNvSpPr>
          <p:nvPr>
            <p:ph type="sldNum" sz="quarter" idx="5"/>
          </p:nvPr>
        </p:nvSpPr>
        <p:spPr/>
        <p:txBody>
          <a:bodyPr/>
          <a:lstStyle/>
          <a:p>
            <a:fld id="{7C366290-4595-5745-A50F-D5EC13BAC604}" type="slidenum">
              <a:rPr lang="en-US" noProof="0" smtClean="0"/>
              <a:t>41</a:t>
            </a:fld>
            <a:endParaRPr lang="en-US" noProof="0" dirty="0"/>
          </a:p>
        </p:txBody>
      </p:sp>
    </p:spTree>
    <p:extLst>
      <p:ext uri="{BB962C8B-B14F-4D97-AF65-F5344CB8AC3E}">
        <p14:creationId xmlns:p14="http://schemas.microsoft.com/office/powerpoint/2010/main" val="39273799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FE588-C678-3E1A-DE9B-F2B4245B4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E894A-3019-E74A-1B80-3BC1A6C13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4D182-B496-C583-545A-86E2AD2B5D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66B139-EBF6-0239-A9C0-76D1AB5FFE6F}"/>
              </a:ext>
            </a:extLst>
          </p:cNvPr>
          <p:cNvSpPr>
            <a:spLocks noGrp="1"/>
          </p:cNvSpPr>
          <p:nvPr>
            <p:ph type="sldNum" sz="quarter" idx="5"/>
          </p:nvPr>
        </p:nvSpPr>
        <p:spPr/>
        <p:txBody>
          <a:bodyPr/>
          <a:lstStyle/>
          <a:p>
            <a:fld id="{7C366290-4595-5745-A50F-D5EC13BAC604}" type="slidenum">
              <a:rPr lang="en-US" noProof="0" smtClean="0"/>
              <a:t>42</a:t>
            </a:fld>
            <a:endParaRPr lang="en-US" noProof="0" dirty="0"/>
          </a:p>
        </p:txBody>
      </p:sp>
    </p:spTree>
    <p:extLst>
      <p:ext uri="{BB962C8B-B14F-4D97-AF65-F5344CB8AC3E}">
        <p14:creationId xmlns:p14="http://schemas.microsoft.com/office/powerpoint/2010/main" val="30706319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CF13B-754C-F114-3390-A5F54547E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C7975-551D-FD59-0520-C7C916E3C1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69B10-A023-58D0-C7E8-4B9281BCF7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1FB18E-369C-2A7F-D338-86F1FE40172D}"/>
              </a:ext>
            </a:extLst>
          </p:cNvPr>
          <p:cNvSpPr>
            <a:spLocks noGrp="1"/>
          </p:cNvSpPr>
          <p:nvPr>
            <p:ph type="sldNum" sz="quarter" idx="5"/>
          </p:nvPr>
        </p:nvSpPr>
        <p:spPr/>
        <p:txBody>
          <a:bodyPr/>
          <a:lstStyle/>
          <a:p>
            <a:fld id="{7C366290-4595-5745-A50F-D5EC13BAC604}" type="slidenum">
              <a:rPr lang="en-US" noProof="0" smtClean="0"/>
              <a:t>43</a:t>
            </a:fld>
            <a:endParaRPr lang="en-US" noProof="0" dirty="0"/>
          </a:p>
        </p:txBody>
      </p:sp>
    </p:spTree>
    <p:extLst>
      <p:ext uri="{BB962C8B-B14F-4D97-AF65-F5344CB8AC3E}">
        <p14:creationId xmlns:p14="http://schemas.microsoft.com/office/powerpoint/2010/main" val="32320487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7C48D-0754-1704-30A2-EA3595CEB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29CB4-3F34-1A0F-952B-2F514A8134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73B74-B60E-2EF4-844D-92DE2A4460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8039E0-3BAD-FC6C-DF4D-05D6CDA99C3B}"/>
              </a:ext>
            </a:extLst>
          </p:cNvPr>
          <p:cNvSpPr>
            <a:spLocks noGrp="1"/>
          </p:cNvSpPr>
          <p:nvPr>
            <p:ph type="sldNum" sz="quarter" idx="5"/>
          </p:nvPr>
        </p:nvSpPr>
        <p:spPr/>
        <p:txBody>
          <a:bodyPr/>
          <a:lstStyle/>
          <a:p>
            <a:fld id="{7C366290-4595-5745-A50F-D5EC13BAC604}" type="slidenum">
              <a:rPr lang="en-US" noProof="0" smtClean="0"/>
              <a:t>44</a:t>
            </a:fld>
            <a:endParaRPr lang="en-US" noProof="0" dirty="0"/>
          </a:p>
        </p:txBody>
      </p:sp>
    </p:spTree>
    <p:extLst>
      <p:ext uri="{BB962C8B-B14F-4D97-AF65-F5344CB8AC3E}">
        <p14:creationId xmlns:p14="http://schemas.microsoft.com/office/powerpoint/2010/main" val="12186643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BE4ED-B2E4-F493-6C8E-D8A1F78A8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84E03-B2BD-1A6B-E171-451D3CC50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BBA294-455E-3FEA-D502-182A9B0EB2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B92520-05A7-43B8-B3A5-F261B928C37A}"/>
              </a:ext>
            </a:extLst>
          </p:cNvPr>
          <p:cNvSpPr>
            <a:spLocks noGrp="1"/>
          </p:cNvSpPr>
          <p:nvPr>
            <p:ph type="sldNum" sz="quarter" idx="5"/>
          </p:nvPr>
        </p:nvSpPr>
        <p:spPr/>
        <p:txBody>
          <a:bodyPr/>
          <a:lstStyle/>
          <a:p>
            <a:fld id="{7C366290-4595-5745-A50F-D5EC13BAC604}" type="slidenum">
              <a:rPr lang="en-US" noProof="0" smtClean="0"/>
              <a:t>45</a:t>
            </a:fld>
            <a:endParaRPr lang="en-US" noProof="0" dirty="0"/>
          </a:p>
        </p:txBody>
      </p:sp>
    </p:spTree>
    <p:extLst>
      <p:ext uri="{BB962C8B-B14F-4D97-AF65-F5344CB8AC3E}">
        <p14:creationId xmlns:p14="http://schemas.microsoft.com/office/powerpoint/2010/main" val="1801905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8C232-AF86-2C01-F2FC-54DFFABC7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32297-F7CB-CE32-7686-82C0BB516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B797A5-33B6-335A-A452-AB1AA8A446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B1AD5C-1CC9-AB69-AB02-7AA15CA4F93A}"/>
              </a:ext>
            </a:extLst>
          </p:cNvPr>
          <p:cNvSpPr>
            <a:spLocks noGrp="1"/>
          </p:cNvSpPr>
          <p:nvPr>
            <p:ph type="sldNum" sz="quarter" idx="5"/>
          </p:nvPr>
        </p:nvSpPr>
        <p:spPr/>
        <p:txBody>
          <a:bodyPr/>
          <a:lstStyle/>
          <a:p>
            <a:fld id="{7C366290-4595-5745-A50F-D5EC13BAC604}" type="slidenum">
              <a:rPr lang="en-US" noProof="0" smtClean="0"/>
              <a:t>46</a:t>
            </a:fld>
            <a:endParaRPr lang="en-US" noProof="0" dirty="0"/>
          </a:p>
        </p:txBody>
      </p:sp>
    </p:spTree>
    <p:extLst>
      <p:ext uri="{BB962C8B-B14F-4D97-AF65-F5344CB8AC3E}">
        <p14:creationId xmlns:p14="http://schemas.microsoft.com/office/powerpoint/2010/main" val="918996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D8D0D-B294-E5F7-33ED-53A6000A6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B8F2C-D89A-C950-937E-A961E515DA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24EBC-B45C-C2A6-4AEE-9D19DC2069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FEB6EF-FA89-91BC-99BC-E81929E4DC75}"/>
              </a:ext>
            </a:extLst>
          </p:cNvPr>
          <p:cNvSpPr>
            <a:spLocks noGrp="1"/>
          </p:cNvSpPr>
          <p:nvPr>
            <p:ph type="sldNum" sz="quarter" idx="5"/>
          </p:nvPr>
        </p:nvSpPr>
        <p:spPr/>
        <p:txBody>
          <a:bodyPr/>
          <a:lstStyle/>
          <a:p>
            <a:fld id="{7C366290-4595-5745-A50F-D5EC13BAC604}" type="slidenum">
              <a:rPr lang="en-US" noProof="0" smtClean="0"/>
              <a:t>47</a:t>
            </a:fld>
            <a:endParaRPr lang="en-US" noProof="0" dirty="0"/>
          </a:p>
        </p:txBody>
      </p:sp>
    </p:spTree>
    <p:extLst>
      <p:ext uri="{BB962C8B-B14F-4D97-AF65-F5344CB8AC3E}">
        <p14:creationId xmlns:p14="http://schemas.microsoft.com/office/powerpoint/2010/main" val="1398221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AF25B-2D66-79AF-5D6E-262DA1E68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6E59D-E7F8-0679-D5CC-11847AF48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16D97-C4D7-0FDD-F3E3-D773EFF544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B77B5A-7CA5-7109-8300-C9DB75FF6131}"/>
              </a:ext>
            </a:extLst>
          </p:cNvPr>
          <p:cNvSpPr>
            <a:spLocks noGrp="1"/>
          </p:cNvSpPr>
          <p:nvPr>
            <p:ph type="sldNum" sz="quarter" idx="5"/>
          </p:nvPr>
        </p:nvSpPr>
        <p:spPr/>
        <p:txBody>
          <a:bodyPr/>
          <a:lstStyle/>
          <a:p>
            <a:fld id="{7C366290-4595-5745-A50F-D5EC13BAC604}" type="slidenum">
              <a:rPr lang="en-US" noProof="0" smtClean="0"/>
              <a:t>48</a:t>
            </a:fld>
            <a:endParaRPr lang="en-US" noProof="0" dirty="0"/>
          </a:p>
        </p:txBody>
      </p:sp>
    </p:spTree>
    <p:extLst>
      <p:ext uri="{BB962C8B-B14F-4D97-AF65-F5344CB8AC3E}">
        <p14:creationId xmlns:p14="http://schemas.microsoft.com/office/powerpoint/2010/main" val="8899274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62A4E-2539-6C96-AFD0-85C63DD89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6A91D-775F-9ED0-CEB3-1997EC1F91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CA877-DFD3-6343-83F0-A9141BF6AF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9C043A-FAE4-E9F7-6547-D38D315DF308}"/>
              </a:ext>
            </a:extLst>
          </p:cNvPr>
          <p:cNvSpPr>
            <a:spLocks noGrp="1"/>
          </p:cNvSpPr>
          <p:nvPr>
            <p:ph type="sldNum" sz="quarter" idx="5"/>
          </p:nvPr>
        </p:nvSpPr>
        <p:spPr/>
        <p:txBody>
          <a:bodyPr/>
          <a:lstStyle/>
          <a:p>
            <a:fld id="{7C366290-4595-5745-A50F-D5EC13BAC604}" type="slidenum">
              <a:rPr lang="en-US" noProof="0" smtClean="0"/>
              <a:t>49</a:t>
            </a:fld>
            <a:endParaRPr lang="en-US" noProof="0" dirty="0"/>
          </a:p>
        </p:txBody>
      </p:sp>
    </p:spTree>
    <p:extLst>
      <p:ext uri="{BB962C8B-B14F-4D97-AF65-F5344CB8AC3E}">
        <p14:creationId xmlns:p14="http://schemas.microsoft.com/office/powerpoint/2010/main" val="28103821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61E2C-FC2A-9F39-D123-14E79EE409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E4B24-514D-F038-1429-B909838B3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35994-7646-8FDE-6099-627A02ABF6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7215B6-C72A-17A6-4246-7CCAC7DB0EE7}"/>
              </a:ext>
            </a:extLst>
          </p:cNvPr>
          <p:cNvSpPr>
            <a:spLocks noGrp="1"/>
          </p:cNvSpPr>
          <p:nvPr>
            <p:ph type="sldNum" sz="quarter" idx="5"/>
          </p:nvPr>
        </p:nvSpPr>
        <p:spPr/>
        <p:txBody>
          <a:bodyPr/>
          <a:lstStyle/>
          <a:p>
            <a:fld id="{7C366290-4595-5745-A50F-D5EC13BAC604}" type="slidenum">
              <a:rPr lang="en-US" noProof="0" smtClean="0"/>
              <a:t>50</a:t>
            </a:fld>
            <a:endParaRPr lang="en-US" noProof="0" dirty="0"/>
          </a:p>
        </p:txBody>
      </p:sp>
    </p:spTree>
    <p:extLst>
      <p:ext uri="{BB962C8B-B14F-4D97-AF65-F5344CB8AC3E}">
        <p14:creationId xmlns:p14="http://schemas.microsoft.com/office/powerpoint/2010/main" val="1383394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9B4B7-A42A-E333-84A6-904C46B9C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EC230-74BC-4397-C38D-45400D9F48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8E536-475D-5C71-BCA2-D4F79187B1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DD56EB-E4F0-37F0-5B17-941117622069}"/>
              </a:ext>
            </a:extLst>
          </p:cNvPr>
          <p:cNvSpPr>
            <a:spLocks noGrp="1"/>
          </p:cNvSpPr>
          <p:nvPr>
            <p:ph type="sldNum" sz="quarter" idx="5"/>
          </p:nvPr>
        </p:nvSpPr>
        <p:spPr/>
        <p:txBody>
          <a:bodyPr/>
          <a:lstStyle/>
          <a:p>
            <a:fld id="{7C366290-4595-5745-A50F-D5EC13BAC604}" type="slidenum">
              <a:rPr lang="en-US" noProof="0" smtClean="0"/>
              <a:t>51</a:t>
            </a:fld>
            <a:endParaRPr lang="en-US" noProof="0" dirty="0"/>
          </a:p>
        </p:txBody>
      </p:sp>
    </p:spTree>
    <p:extLst>
      <p:ext uri="{BB962C8B-B14F-4D97-AF65-F5344CB8AC3E}">
        <p14:creationId xmlns:p14="http://schemas.microsoft.com/office/powerpoint/2010/main" val="4089839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4F41C-997D-7D69-6FDA-7EC1317D2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DE6C9-ABA2-3FB3-A274-A2FF08D68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E02F43-1675-535B-DFDF-A1E1B72665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CE9809-FFF2-0243-07AB-6BBD04DD0A85}"/>
              </a:ext>
            </a:extLst>
          </p:cNvPr>
          <p:cNvSpPr>
            <a:spLocks noGrp="1"/>
          </p:cNvSpPr>
          <p:nvPr>
            <p:ph type="sldNum" sz="quarter" idx="5"/>
          </p:nvPr>
        </p:nvSpPr>
        <p:spPr/>
        <p:txBody>
          <a:bodyPr/>
          <a:lstStyle/>
          <a:p>
            <a:fld id="{7C366290-4595-5745-A50F-D5EC13BAC604}" type="slidenum">
              <a:rPr lang="en-US" noProof="0" smtClean="0"/>
              <a:t>52</a:t>
            </a:fld>
            <a:endParaRPr lang="en-US" noProof="0" dirty="0"/>
          </a:p>
        </p:txBody>
      </p:sp>
    </p:spTree>
    <p:extLst>
      <p:ext uri="{BB962C8B-B14F-4D97-AF65-F5344CB8AC3E}">
        <p14:creationId xmlns:p14="http://schemas.microsoft.com/office/powerpoint/2010/main" val="20269906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5F355-93B7-CF51-48A2-7ED398620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61899-5B47-2F7A-CA62-2439ABFA3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85AC7-CB53-8D21-6B23-A7BAD510C7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A81E13-C2B4-6C66-FFCF-643C07E11B04}"/>
              </a:ext>
            </a:extLst>
          </p:cNvPr>
          <p:cNvSpPr>
            <a:spLocks noGrp="1"/>
          </p:cNvSpPr>
          <p:nvPr>
            <p:ph type="sldNum" sz="quarter" idx="5"/>
          </p:nvPr>
        </p:nvSpPr>
        <p:spPr/>
        <p:txBody>
          <a:bodyPr/>
          <a:lstStyle/>
          <a:p>
            <a:fld id="{7C366290-4595-5745-A50F-D5EC13BAC604}" type="slidenum">
              <a:rPr lang="en-US" noProof="0" smtClean="0"/>
              <a:t>53</a:t>
            </a:fld>
            <a:endParaRPr lang="en-US" noProof="0" dirty="0"/>
          </a:p>
        </p:txBody>
      </p:sp>
    </p:spTree>
    <p:extLst>
      <p:ext uri="{BB962C8B-B14F-4D97-AF65-F5344CB8AC3E}">
        <p14:creationId xmlns:p14="http://schemas.microsoft.com/office/powerpoint/2010/main" val="30776526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810D6-75A3-26CF-D9F8-8117C3B0D1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585BF-43C2-CB28-112A-5A2894FED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DBCE24-81D7-0973-46A2-2808B30CE1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BCEB77-4B17-3120-0666-7E17C73EF7DF}"/>
              </a:ext>
            </a:extLst>
          </p:cNvPr>
          <p:cNvSpPr>
            <a:spLocks noGrp="1"/>
          </p:cNvSpPr>
          <p:nvPr>
            <p:ph type="sldNum" sz="quarter" idx="5"/>
          </p:nvPr>
        </p:nvSpPr>
        <p:spPr/>
        <p:txBody>
          <a:bodyPr/>
          <a:lstStyle/>
          <a:p>
            <a:fld id="{7C366290-4595-5745-A50F-D5EC13BAC604}" type="slidenum">
              <a:rPr lang="en-US" noProof="0" smtClean="0"/>
              <a:t>54</a:t>
            </a:fld>
            <a:endParaRPr lang="en-US" noProof="0" dirty="0"/>
          </a:p>
        </p:txBody>
      </p:sp>
    </p:spTree>
    <p:extLst>
      <p:ext uri="{BB962C8B-B14F-4D97-AF65-F5344CB8AC3E}">
        <p14:creationId xmlns:p14="http://schemas.microsoft.com/office/powerpoint/2010/main" val="29547808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A0CF6-B88B-043A-92B9-19140633EF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824F9-830A-AFA1-7652-520A2A311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B488CA-40F8-7533-D075-DF4B0EB48B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2D1A84-A9A0-CE0C-99C8-F8245F563B9D}"/>
              </a:ext>
            </a:extLst>
          </p:cNvPr>
          <p:cNvSpPr>
            <a:spLocks noGrp="1"/>
          </p:cNvSpPr>
          <p:nvPr>
            <p:ph type="sldNum" sz="quarter" idx="5"/>
          </p:nvPr>
        </p:nvSpPr>
        <p:spPr/>
        <p:txBody>
          <a:bodyPr/>
          <a:lstStyle/>
          <a:p>
            <a:fld id="{7C366290-4595-5745-A50F-D5EC13BAC604}" type="slidenum">
              <a:rPr lang="en-US" noProof="0" smtClean="0"/>
              <a:t>55</a:t>
            </a:fld>
            <a:endParaRPr lang="en-US" noProof="0" dirty="0"/>
          </a:p>
        </p:txBody>
      </p:sp>
    </p:spTree>
    <p:extLst>
      <p:ext uri="{BB962C8B-B14F-4D97-AF65-F5344CB8AC3E}">
        <p14:creationId xmlns:p14="http://schemas.microsoft.com/office/powerpoint/2010/main" val="22496402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9B8D1-FDD3-9C40-10BE-839690E7A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59CB7-974B-96AB-4AD7-49794BEBC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711CD2-A9F1-5292-24FA-3216A0EC4D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8D07D6-B5F6-DBA3-E40E-D8CBE0FC8D38}"/>
              </a:ext>
            </a:extLst>
          </p:cNvPr>
          <p:cNvSpPr>
            <a:spLocks noGrp="1"/>
          </p:cNvSpPr>
          <p:nvPr>
            <p:ph type="sldNum" sz="quarter" idx="5"/>
          </p:nvPr>
        </p:nvSpPr>
        <p:spPr/>
        <p:txBody>
          <a:bodyPr/>
          <a:lstStyle/>
          <a:p>
            <a:fld id="{7C366290-4595-5745-A50F-D5EC13BAC604}" type="slidenum">
              <a:rPr lang="en-US" noProof="0" smtClean="0"/>
              <a:t>56</a:t>
            </a:fld>
            <a:endParaRPr lang="en-US" noProof="0" dirty="0"/>
          </a:p>
        </p:txBody>
      </p:sp>
    </p:spTree>
    <p:extLst>
      <p:ext uri="{BB962C8B-B14F-4D97-AF65-F5344CB8AC3E}">
        <p14:creationId xmlns:p14="http://schemas.microsoft.com/office/powerpoint/2010/main" val="27349746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82378-FCD1-CDB6-FC0A-DE14E5821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153E3-A08C-1064-CBFD-D4B75978D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83714-ABA5-D817-7D4D-D6339A65CE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AA820E-8A0D-9D02-27FB-7B893B13AE0E}"/>
              </a:ext>
            </a:extLst>
          </p:cNvPr>
          <p:cNvSpPr>
            <a:spLocks noGrp="1"/>
          </p:cNvSpPr>
          <p:nvPr>
            <p:ph type="sldNum" sz="quarter" idx="5"/>
          </p:nvPr>
        </p:nvSpPr>
        <p:spPr/>
        <p:txBody>
          <a:bodyPr/>
          <a:lstStyle/>
          <a:p>
            <a:fld id="{7C366290-4595-5745-A50F-D5EC13BAC604}" type="slidenum">
              <a:rPr lang="en-US" noProof="0" smtClean="0"/>
              <a:t>57</a:t>
            </a:fld>
            <a:endParaRPr lang="en-US" noProof="0" dirty="0"/>
          </a:p>
        </p:txBody>
      </p:sp>
    </p:spTree>
    <p:extLst>
      <p:ext uri="{BB962C8B-B14F-4D97-AF65-F5344CB8AC3E}">
        <p14:creationId xmlns:p14="http://schemas.microsoft.com/office/powerpoint/2010/main" val="20851992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D7995-C2B3-1173-D59F-DBB930F5A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948005-3A9F-18D6-D3ED-3C0F7D74D8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FDCE86-6160-FA66-1274-6B25C05986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B4226A-FCF5-5DB0-4B6E-C8A8B6F0FB78}"/>
              </a:ext>
            </a:extLst>
          </p:cNvPr>
          <p:cNvSpPr>
            <a:spLocks noGrp="1"/>
          </p:cNvSpPr>
          <p:nvPr>
            <p:ph type="sldNum" sz="quarter" idx="5"/>
          </p:nvPr>
        </p:nvSpPr>
        <p:spPr/>
        <p:txBody>
          <a:bodyPr/>
          <a:lstStyle/>
          <a:p>
            <a:fld id="{7C366290-4595-5745-A50F-D5EC13BAC604}" type="slidenum">
              <a:rPr lang="en-US" noProof="0" smtClean="0"/>
              <a:t>58</a:t>
            </a:fld>
            <a:endParaRPr lang="en-US" noProof="0" dirty="0"/>
          </a:p>
        </p:txBody>
      </p:sp>
    </p:spTree>
    <p:extLst>
      <p:ext uri="{BB962C8B-B14F-4D97-AF65-F5344CB8AC3E}">
        <p14:creationId xmlns:p14="http://schemas.microsoft.com/office/powerpoint/2010/main" val="117365328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737DB-3215-0A9E-B620-CCE8D4F88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72BCF-0F1D-0A15-58A4-96BDC85D3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8EEED-E3A4-DC4C-67A7-FF868CBCC6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E1DE5E-D521-CCFC-95C7-4657DF876A06}"/>
              </a:ext>
            </a:extLst>
          </p:cNvPr>
          <p:cNvSpPr>
            <a:spLocks noGrp="1"/>
          </p:cNvSpPr>
          <p:nvPr>
            <p:ph type="sldNum" sz="quarter" idx="5"/>
          </p:nvPr>
        </p:nvSpPr>
        <p:spPr/>
        <p:txBody>
          <a:bodyPr/>
          <a:lstStyle/>
          <a:p>
            <a:fld id="{7C366290-4595-5745-A50F-D5EC13BAC604}" type="slidenum">
              <a:rPr lang="en-US" noProof="0" smtClean="0"/>
              <a:t>59</a:t>
            </a:fld>
            <a:endParaRPr lang="en-US" noProof="0" dirty="0"/>
          </a:p>
        </p:txBody>
      </p:sp>
    </p:spTree>
    <p:extLst>
      <p:ext uri="{BB962C8B-B14F-4D97-AF65-F5344CB8AC3E}">
        <p14:creationId xmlns:p14="http://schemas.microsoft.com/office/powerpoint/2010/main" val="21474569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67D7B-790E-EDC7-BF06-086BDADAA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AC83A4-18EE-C0EB-2442-4DCE82DE2D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120D3-F36E-BAF0-6CF7-A5C4324D6F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DB8808-7321-7D8D-2F06-9FFA6E5F1B4D}"/>
              </a:ext>
            </a:extLst>
          </p:cNvPr>
          <p:cNvSpPr>
            <a:spLocks noGrp="1"/>
          </p:cNvSpPr>
          <p:nvPr>
            <p:ph type="sldNum" sz="quarter" idx="5"/>
          </p:nvPr>
        </p:nvSpPr>
        <p:spPr/>
        <p:txBody>
          <a:bodyPr/>
          <a:lstStyle/>
          <a:p>
            <a:fld id="{7C366290-4595-5745-A50F-D5EC13BAC604}" type="slidenum">
              <a:rPr lang="en-US" noProof="0" smtClean="0"/>
              <a:t>60</a:t>
            </a:fld>
            <a:endParaRPr lang="en-US" noProof="0" dirty="0"/>
          </a:p>
        </p:txBody>
      </p:sp>
    </p:spTree>
    <p:extLst>
      <p:ext uri="{BB962C8B-B14F-4D97-AF65-F5344CB8AC3E}">
        <p14:creationId xmlns:p14="http://schemas.microsoft.com/office/powerpoint/2010/main" val="5461370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A5E13-AC08-A9B8-8CA2-40D762EE4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E7B5F-D502-FE54-0758-1138EA2D5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D96741-038C-4B1F-2AF0-C68F678644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983FED-207A-B896-7E92-A59AEF1651C6}"/>
              </a:ext>
            </a:extLst>
          </p:cNvPr>
          <p:cNvSpPr>
            <a:spLocks noGrp="1"/>
          </p:cNvSpPr>
          <p:nvPr>
            <p:ph type="sldNum" sz="quarter" idx="5"/>
          </p:nvPr>
        </p:nvSpPr>
        <p:spPr/>
        <p:txBody>
          <a:bodyPr/>
          <a:lstStyle/>
          <a:p>
            <a:fld id="{7C366290-4595-5745-A50F-D5EC13BAC604}" type="slidenum">
              <a:rPr lang="en-US" noProof="0" smtClean="0"/>
              <a:t>61</a:t>
            </a:fld>
            <a:endParaRPr lang="en-US" noProof="0" dirty="0"/>
          </a:p>
        </p:txBody>
      </p:sp>
    </p:spTree>
    <p:extLst>
      <p:ext uri="{BB962C8B-B14F-4D97-AF65-F5344CB8AC3E}">
        <p14:creationId xmlns:p14="http://schemas.microsoft.com/office/powerpoint/2010/main" val="24376196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9AC40-BBD8-2A8C-8A8D-56CCC5C83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A0132-0C7D-F5FD-0D15-BB11B74A7A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201EE-3375-22DC-CC89-2478876DF3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2B61FA-7AA5-CEEF-C9A7-C388285B31C5}"/>
              </a:ext>
            </a:extLst>
          </p:cNvPr>
          <p:cNvSpPr>
            <a:spLocks noGrp="1"/>
          </p:cNvSpPr>
          <p:nvPr>
            <p:ph type="sldNum" sz="quarter" idx="5"/>
          </p:nvPr>
        </p:nvSpPr>
        <p:spPr/>
        <p:txBody>
          <a:bodyPr/>
          <a:lstStyle/>
          <a:p>
            <a:fld id="{7C366290-4595-5745-A50F-D5EC13BAC604}" type="slidenum">
              <a:rPr lang="en-US" noProof="0" smtClean="0"/>
              <a:t>62</a:t>
            </a:fld>
            <a:endParaRPr lang="en-US" noProof="0" dirty="0"/>
          </a:p>
        </p:txBody>
      </p:sp>
    </p:spTree>
    <p:extLst>
      <p:ext uri="{BB962C8B-B14F-4D97-AF65-F5344CB8AC3E}">
        <p14:creationId xmlns:p14="http://schemas.microsoft.com/office/powerpoint/2010/main" val="18196915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D3704-86BD-4C66-4369-A5AE27109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9F41D-C995-68E6-BF41-C4EDEAB69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8B949-8C25-5DF9-ED1D-CE46559390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13A73E-E2A9-BD2D-3397-C493C6261D3F}"/>
              </a:ext>
            </a:extLst>
          </p:cNvPr>
          <p:cNvSpPr>
            <a:spLocks noGrp="1"/>
          </p:cNvSpPr>
          <p:nvPr>
            <p:ph type="sldNum" sz="quarter" idx="5"/>
          </p:nvPr>
        </p:nvSpPr>
        <p:spPr/>
        <p:txBody>
          <a:bodyPr/>
          <a:lstStyle/>
          <a:p>
            <a:fld id="{7C366290-4595-5745-A50F-D5EC13BAC604}" type="slidenum">
              <a:rPr lang="en-US" noProof="0" smtClean="0"/>
              <a:t>63</a:t>
            </a:fld>
            <a:endParaRPr lang="en-US" noProof="0" dirty="0"/>
          </a:p>
        </p:txBody>
      </p:sp>
    </p:spTree>
    <p:extLst>
      <p:ext uri="{BB962C8B-B14F-4D97-AF65-F5344CB8AC3E}">
        <p14:creationId xmlns:p14="http://schemas.microsoft.com/office/powerpoint/2010/main" val="3043828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A5B22-6C17-BC55-F6DE-741B73490B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2C216-5E24-8F24-7CC9-84FCA8EB90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95CDD3-D626-3362-A5B2-8D3A110780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F415A0-829F-AC48-1908-B1837330FD68}"/>
              </a:ext>
            </a:extLst>
          </p:cNvPr>
          <p:cNvSpPr>
            <a:spLocks noGrp="1"/>
          </p:cNvSpPr>
          <p:nvPr>
            <p:ph type="sldNum" sz="quarter" idx="5"/>
          </p:nvPr>
        </p:nvSpPr>
        <p:spPr/>
        <p:txBody>
          <a:bodyPr/>
          <a:lstStyle/>
          <a:p>
            <a:fld id="{7C366290-4595-5745-A50F-D5EC13BAC604}" type="slidenum">
              <a:rPr lang="en-US" noProof="0" smtClean="0"/>
              <a:t>64</a:t>
            </a:fld>
            <a:endParaRPr lang="en-US" noProof="0" dirty="0"/>
          </a:p>
        </p:txBody>
      </p:sp>
    </p:spTree>
    <p:extLst>
      <p:ext uri="{BB962C8B-B14F-4D97-AF65-F5344CB8AC3E}">
        <p14:creationId xmlns:p14="http://schemas.microsoft.com/office/powerpoint/2010/main" val="426612170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35F43-72E7-8F8E-2B6A-99E622325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BA679-E072-855A-5BCA-A140E0609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72656-CA87-8118-1536-62AC604BFD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B3D485-C966-692E-FAC6-9532EFD3FBE1}"/>
              </a:ext>
            </a:extLst>
          </p:cNvPr>
          <p:cNvSpPr>
            <a:spLocks noGrp="1"/>
          </p:cNvSpPr>
          <p:nvPr>
            <p:ph type="sldNum" sz="quarter" idx="5"/>
          </p:nvPr>
        </p:nvSpPr>
        <p:spPr/>
        <p:txBody>
          <a:bodyPr/>
          <a:lstStyle/>
          <a:p>
            <a:fld id="{7C366290-4595-5745-A50F-D5EC13BAC604}" type="slidenum">
              <a:rPr lang="en-US" noProof="0" smtClean="0"/>
              <a:t>65</a:t>
            </a:fld>
            <a:endParaRPr lang="en-US" noProof="0" dirty="0"/>
          </a:p>
        </p:txBody>
      </p:sp>
    </p:spTree>
    <p:extLst>
      <p:ext uri="{BB962C8B-B14F-4D97-AF65-F5344CB8AC3E}">
        <p14:creationId xmlns:p14="http://schemas.microsoft.com/office/powerpoint/2010/main" val="17617609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1FBB6-A75D-9897-F0B7-95E51A49D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0F6A6-174C-8AE5-7CA5-B78EA6B43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0ABCC-D4BC-9C09-F035-26457B9498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285604-02D8-C618-28FD-57C19E2DF0E0}"/>
              </a:ext>
            </a:extLst>
          </p:cNvPr>
          <p:cNvSpPr>
            <a:spLocks noGrp="1"/>
          </p:cNvSpPr>
          <p:nvPr>
            <p:ph type="sldNum" sz="quarter" idx="5"/>
          </p:nvPr>
        </p:nvSpPr>
        <p:spPr/>
        <p:txBody>
          <a:bodyPr/>
          <a:lstStyle/>
          <a:p>
            <a:fld id="{7C366290-4595-5745-A50F-D5EC13BAC604}" type="slidenum">
              <a:rPr lang="en-US" noProof="0" smtClean="0"/>
              <a:t>66</a:t>
            </a:fld>
            <a:endParaRPr lang="en-US" noProof="0" dirty="0"/>
          </a:p>
        </p:txBody>
      </p:sp>
    </p:spTree>
    <p:extLst>
      <p:ext uri="{BB962C8B-B14F-4D97-AF65-F5344CB8AC3E}">
        <p14:creationId xmlns:p14="http://schemas.microsoft.com/office/powerpoint/2010/main" val="21823469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5D788-957B-D254-9142-98F5FE3EB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0B6DF-68F0-BF8B-BECA-DE2E1066F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37833-A7E5-88BB-D4C8-17D5354497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A514C7-B2A6-034F-26CE-DA1F19D9D09F}"/>
              </a:ext>
            </a:extLst>
          </p:cNvPr>
          <p:cNvSpPr>
            <a:spLocks noGrp="1"/>
          </p:cNvSpPr>
          <p:nvPr>
            <p:ph type="sldNum" sz="quarter" idx="5"/>
          </p:nvPr>
        </p:nvSpPr>
        <p:spPr/>
        <p:txBody>
          <a:bodyPr/>
          <a:lstStyle/>
          <a:p>
            <a:fld id="{7C366290-4595-5745-A50F-D5EC13BAC604}" type="slidenum">
              <a:rPr lang="en-US" noProof="0" smtClean="0"/>
              <a:t>67</a:t>
            </a:fld>
            <a:endParaRPr lang="en-US" noProof="0" dirty="0"/>
          </a:p>
        </p:txBody>
      </p:sp>
    </p:spTree>
    <p:extLst>
      <p:ext uri="{BB962C8B-B14F-4D97-AF65-F5344CB8AC3E}">
        <p14:creationId xmlns:p14="http://schemas.microsoft.com/office/powerpoint/2010/main" val="362385527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F7BBD-5C04-F0A1-0E93-43173F764F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63D5D-C9B4-B414-F35B-DB809155D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B44904-7F94-ECF1-512B-AB2B0E0846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9C9E6E-F570-291C-3CAB-611F056E9548}"/>
              </a:ext>
            </a:extLst>
          </p:cNvPr>
          <p:cNvSpPr>
            <a:spLocks noGrp="1"/>
          </p:cNvSpPr>
          <p:nvPr>
            <p:ph type="sldNum" sz="quarter" idx="5"/>
          </p:nvPr>
        </p:nvSpPr>
        <p:spPr/>
        <p:txBody>
          <a:bodyPr/>
          <a:lstStyle/>
          <a:p>
            <a:fld id="{7C366290-4595-5745-A50F-D5EC13BAC604}" type="slidenum">
              <a:rPr lang="en-US" noProof="0" smtClean="0"/>
              <a:t>68</a:t>
            </a:fld>
            <a:endParaRPr lang="en-US" noProof="0" dirty="0"/>
          </a:p>
        </p:txBody>
      </p:sp>
    </p:spTree>
    <p:extLst>
      <p:ext uri="{BB962C8B-B14F-4D97-AF65-F5344CB8AC3E}">
        <p14:creationId xmlns:p14="http://schemas.microsoft.com/office/powerpoint/2010/main" val="253692787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C18D6-24B9-F86E-782F-0F8803379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3A370-ED60-C3C9-F26D-5EC131D7D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642D6-3A8E-371D-9112-ADF7FC09EF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9BD63F-9529-B031-838A-62F305E21102}"/>
              </a:ext>
            </a:extLst>
          </p:cNvPr>
          <p:cNvSpPr>
            <a:spLocks noGrp="1"/>
          </p:cNvSpPr>
          <p:nvPr>
            <p:ph type="sldNum" sz="quarter" idx="5"/>
          </p:nvPr>
        </p:nvSpPr>
        <p:spPr/>
        <p:txBody>
          <a:bodyPr/>
          <a:lstStyle/>
          <a:p>
            <a:fld id="{7C366290-4595-5745-A50F-D5EC13BAC604}" type="slidenum">
              <a:rPr lang="en-US" noProof="0" smtClean="0"/>
              <a:t>69</a:t>
            </a:fld>
            <a:endParaRPr lang="en-US" noProof="0" dirty="0"/>
          </a:p>
        </p:txBody>
      </p:sp>
    </p:spTree>
    <p:extLst>
      <p:ext uri="{BB962C8B-B14F-4D97-AF65-F5344CB8AC3E}">
        <p14:creationId xmlns:p14="http://schemas.microsoft.com/office/powerpoint/2010/main" val="118216232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7656F-2B06-3FED-DCD1-FF20726EE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B1C3A-3C0A-70FE-D0BC-CF1DBC1793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01594-B8C8-D5C2-7379-9F170D366D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3E66D4-7533-B126-72BE-34642CB5FE2F}"/>
              </a:ext>
            </a:extLst>
          </p:cNvPr>
          <p:cNvSpPr>
            <a:spLocks noGrp="1"/>
          </p:cNvSpPr>
          <p:nvPr>
            <p:ph type="sldNum" sz="quarter" idx="5"/>
          </p:nvPr>
        </p:nvSpPr>
        <p:spPr/>
        <p:txBody>
          <a:bodyPr/>
          <a:lstStyle/>
          <a:p>
            <a:fld id="{7C366290-4595-5745-A50F-D5EC13BAC604}" type="slidenum">
              <a:rPr lang="en-US" noProof="0" smtClean="0"/>
              <a:t>70</a:t>
            </a:fld>
            <a:endParaRPr lang="en-US" noProof="0" dirty="0"/>
          </a:p>
        </p:txBody>
      </p:sp>
    </p:spTree>
    <p:extLst>
      <p:ext uri="{BB962C8B-B14F-4D97-AF65-F5344CB8AC3E}">
        <p14:creationId xmlns:p14="http://schemas.microsoft.com/office/powerpoint/2010/main" val="13973775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098B5-EF53-5EDD-8FCD-5C749ABF1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3B381-112D-476C-2B03-CA7A5FE39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6F240-DEB7-9974-C3AD-78117F55C1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35DCF4-71FE-DAA5-1962-19BB3E805C53}"/>
              </a:ext>
            </a:extLst>
          </p:cNvPr>
          <p:cNvSpPr>
            <a:spLocks noGrp="1"/>
          </p:cNvSpPr>
          <p:nvPr>
            <p:ph type="sldNum" sz="quarter" idx="5"/>
          </p:nvPr>
        </p:nvSpPr>
        <p:spPr/>
        <p:txBody>
          <a:bodyPr/>
          <a:lstStyle/>
          <a:p>
            <a:fld id="{7C366290-4595-5745-A50F-D5EC13BAC604}" type="slidenum">
              <a:rPr lang="en-US" noProof="0" smtClean="0"/>
              <a:t>71</a:t>
            </a:fld>
            <a:endParaRPr lang="en-US" noProof="0" dirty="0"/>
          </a:p>
        </p:txBody>
      </p:sp>
    </p:spTree>
    <p:extLst>
      <p:ext uri="{BB962C8B-B14F-4D97-AF65-F5344CB8AC3E}">
        <p14:creationId xmlns:p14="http://schemas.microsoft.com/office/powerpoint/2010/main" val="338192807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42ACD-0B1B-DE9B-6405-6634BDBFC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98BFB-756E-C0DC-4C2B-2FE8120C4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CAD539-6649-5191-6D10-8FEE5854AB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5ECF58-14D4-E4E9-8286-DE677042C41A}"/>
              </a:ext>
            </a:extLst>
          </p:cNvPr>
          <p:cNvSpPr>
            <a:spLocks noGrp="1"/>
          </p:cNvSpPr>
          <p:nvPr>
            <p:ph type="sldNum" sz="quarter" idx="5"/>
          </p:nvPr>
        </p:nvSpPr>
        <p:spPr/>
        <p:txBody>
          <a:bodyPr/>
          <a:lstStyle/>
          <a:p>
            <a:fld id="{7C366290-4595-5745-A50F-D5EC13BAC604}" type="slidenum">
              <a:rPr lang="en-US" noProof="0" smtClean="0"/>
              <a:t>72</a:t>
            </a:fld>
            <a:endParaRPr lang="en-US" noProof="0" dirty="0"/>
          </a:p>
        </p:txBody>
      </p:sp>
    </p:spTree>
    <p:extLst>
      <p:ext uri="{BB962C8B-B14F-4D97-AF65-F5344CB8AC3E}">
        <p14:creationId xmlns:p14="http://schemas.microsoft.com/office/powerpoint/2010/main" val="55918897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E652-B712-3520-A0A4-AE6704CE7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20409-FE65-BB89-5BA1-EF6A07E36C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E3DA1F-604A-C0F3-A6C4-F433F2D279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82017-5646-882F-46F0-D87108B2F389}"/>
              </a:ext>
            </a:extLst>
          </p:cNvPr>
          <p:cNvSpPr>
            <a:spLocks noGrp="1"/>
          </p:cNvSpPr>
          <p:nvPr>
            <p:ph type="sldNum" sz="quarter" idx="5"/>
          </p:nvPr>
        </p:nvSpPr>
        <p:spPr/>
        <p:txBody>
          <a:bodyPr/>
          <a:lstStyle/>
          <a:p>
            <a:fld id="{7C366290-4595-5745-A50F-D5EC13BAC604}" type="slidenum">
              <a:rPr lang="en-US" noProof="0" smtClean="0"/>
              <a:t>73</a:t>
            </a:fld>
            <a:endParaRPr lang="en-US" noProof="0" dirty="0"/>
          </a:p>
        </p:txBody>
      </p:sp>
    </p:spTree>
    <p:extLst>
      <p:ext uri="{BB962C8B-B14F-4D97-AF65-F5344CB8AC3E}">
        <p14:creationId xmlns:p14="http://schemas.microsoft.com/office/powerpoint/2010/main" val="229873641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81B6F-961A-0D11-448C-457BAFAE5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7E4C3-1B53-5FDB-F8CF-4C6D84D616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DA2C1-35B5-3555-5F57-D8B8AA42B3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E4E150-4421-DB36-B17F-216B197C9D35}"/>
              </a:ext>
            </a:extLst>
          </p:cNvPr>
          <p:cNvSpPr>
            <a:spLocks noGrp="1"/>
          </p:cNvSpPr>
          <p:nvPr>
            <p:ph type="sldNum" sz="quarter" idx="5"/>
          </p:nvPr>
        </p:nvSpPr>
        <p:spPr/>
        <p:txBody>
          <a:bodyPr/>
          <a:lstStyle/>
          <a:p>
            <a:fld id="{7C366290-4595-5745-A50F-D5EC13BAC604}" type="slidenum">
              <a:rPr lang="en-US" noProof="0" smtClean="0"/>
              <a:t>74</a:t>
            </a:fld>
            <a:endParaRPr lang="en-US" noProof="0" dirty="0"/>
          </a:p>
        </p:txBody>
      </p:sp>
    </p:spTree>
    <p:extLst>
      <p:ext uri="{BB962C8B-B14F-4D97-AF65-F5344CB8AC3E}">
        <p14:creationId xmlns:p14="http://schemas.microsoft.com/office/powerpoint/2010/main" val="57620548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17F5C-564E-FC6B-49DB-2DC48B1E3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8D8BED-CF76-E39B-22E6-0333D2C8D6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882241-8947-AA65-420D-FED0BB283E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72346C-A540-F014-1B33-94588DB75944}"/>
              </a:ext>
            </a:extLst>
          </p:cNvPr>
          <p:cNvSpPr>
            <a:spLocks noGrp="1"/>
          </p:cNvSpPr>
          <p:nvPr>
            <p:ph type="sldNum" sz="quarter" idx="5"/>
          </p:nvPr>
        </p:nvSpPr>
        <p:spPr/>
        <p:txBody>
          <a:bodyPr/>
          <a:lstStyle/>
          <a:p>
            <a:fld id="{7C366290-4595-5745-A50F-D5EC13BAC604}" type="slidenum">
              <a:rPr lang="en-US" noProof="0" smtClean="0"/>
              <a:t>75</a:t>
            </a:fld>
            <a:endParaRPr lang="en-US" noProof="0" dirty="0"/>
          </a:p>
        </p:txBody>
      </p:sp>
    </p:spTree>
    <p:extLst>
      <p:ext uri="{BB962C8B-B14F-4D97-AF65-F5344CB8AC3E}">
        <p14:creationId xmlns:p14="http://schemas.microsoft.com/office/powerpoint/2010/main" val="115257399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2BC97-B8D8-7972-1710-20AF5B8BD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BF11E-507F-4DD8-85F5-E57295421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34EE4-70D7-240A-55F8-33D0DE81C9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63BF09-97C4-5F88-CA51-227E322578CB}"/>
              </a:ext>
            </a:extLst>
          </p:cNvPr>
          <p:cNvSpPr>
            <a:spLocks noGrp="1"/>
          </p:cNvSpPr>
          <p:nvPr>
            <p:ph type="sldNum" sz="quarter" idx="5"/>
          </p:nvPr>
        </p:nvSpPr>
        <p:spPr/>
        <p:txBody>
          <a:bodyPr/>
          <a:lstStyle/>
          <a:p>
            <a:fld id="{7C366290-4595-5745-A50F-D5EC13BAC604}" type="slidenum">
              <a:rPr lang="en-US" noProof="0" smtClean="0"/>
              <a:t>76</a:t>
            </a:fld>
            <a:endParaRPr lang="en-US" noProof="0" dirty="0"/>
          </a:p>
        </p:txBody>
      </p:sp>
    </p:spTree>
    <p:extLst>
      <p:ext uri="{BB962C8B-B14F-4D97-AF65-F5344CB8AC3E}">
        <p14:creationId xmlns:p14="http://schemas.microsoft.com/office/powerpoint/2010/main" val="119762495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B00F5-A27F-F0A2-5B16-CC217D878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47BD2-30D3-A099-8007-B7731ECF20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86ACAA-11D8-CBC6-1F4A-E82B3BFC4A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9F4ED8-5523-3DAE-DA8D-F8139BF96F0F}"/>
              </a:ext>
            </a:extLst>
          </p:cNvPr>
          <p:cNvSpPr>
            <a:spLocks noGrp="1"/>
          </p:cNvSpPr>
          <p:nvPr>
            <p:ph type="sldNum" sz="quarter" idx="5"/>
          </p:nvPr>
        </p:nvSpPr>
        <p:spPr/>
        <p:txBody>
          <a:bodyPr/>
          <a:lstStyle/>
          <a:p>
            <a:fld id="{7C366290-4595-5745-A50F-D5EC13BAC604}" type="slidenum">
              <a:rPr lang="en-US" noProof="0" smtClean="0"/>
              <a:t>77</a:t>
            </a:fld>
            <a:endParaRPr lang="en-US" noProof="0" dirty="0"/>
          </a:p>
        </p:txBody>
      </p:sp>
    </p:spTree>
    <p:extLst>
      <p:ext uri="{BB962C8B-B14F-4D97-AF65-F5344CB8AC3E}">
        <p14:creationId xmlns:p14="http://schemas.microsoft.com/office/powerpoint/2010/main" val="23365969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FAD2F-C530-D67A-8A4C-7F08E6204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4206CC-4267-E2FE-7DD2-4A7A0FB2E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D0652-A25B-CA9D-CB8D-514F379575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52C765-BC62-91C5-7950-430E50B78099}"/>
              </a:ext>
            </a:extLst>
          </p:cNvPr>
          <p:cNvSpPr>
            <a:spLocks noGrp="1"/>
          </p:cNvSpPr>
          <p:nvPr>
            <p:ph type="sldNum" sz="quarter" idx="5"/>
          </p:nvPr>
        </p:nvSpPr>
        <p:spPr/>
        <p:txBody>
          <a:bodyPr/>
          <a:lstStyle/>
          <a:p>
            <a:fld id="{7C366290-4595-5745-A50F-D5EC13BAC604}" type="slidenum">
              <a:rPr lang="en-US" noProof="0" smtClean="0"/>
              <a:t>78</a:t>
            </a:fld>
            <a:endParaRPr lang="en-US" noProof="0" dirty="0"/>
          </a:p>
        </p:txBody>
      </p:sp>
    </p:spTree>
    <p:extLst>
      <p:ext uri="{BB962C8B-B14F-4D97-AF65-F5344CB8AC3E}">
        <p14:creationId xmlns:p14="http://schemas.microsoft.com/office/powerpoint/2010/main" val="32964122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A197A-3F19-924D-C1FA-0D7A6CB1C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E94B2-3E5A-DE58-18D0-11C1CED36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D320F-CD21-EF5E-557C-A8A536B258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505A40-F6AA-B5D0-B885-69DC6202E86D}"/>
              </a:ext>
            </a:extLst>
          </p:cNvPr>
          <p:cNvSpPr>
            <a:spLocks noGrp="1"/>
          </p:cNvSpPr>
          <p:nvPr>
            <p:ph type="sldNum" sz="quarter" idx="5"/>
          </p:nvPr>
        </p:nvSpPr>
        <p:spPr/>
        <p:txBody>
          <a:bodyPr/>
          <a:lstStyle/>
          <a:p>
            <a:fld id="{7C366290-4595-5745-A50F-D5EC13BAC604}" type="slidenum">
              <a:rPr lang="en-US" noProof="0" smtClean="0"/>
              <a:t>79</a:t>
            </a:fld>
            <a:endParaRPr lang="en-US" noProof="0" dirty="0"/>
          </a:p>
        </p:txBody>
      </p:sp>
    </p:spTree>
    <p:extLst>
      <p:ext uri="{BB962C8B-B14F-4D97-AF65-F5344CB8AC3E}">
        <p14:creationId xmlns:p14="http://schemas.microsoft.com/office/powerpoint/2010/main" val="44911398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A86FA-7ECF-D0F5-2319-F51291F6D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7CD89-AD33-B757-9420-2134C7511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0FE9CF-EAFD-3B8F-5530-1D738371ED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971454-9681-A014-3E08-B228FEF32D0B}"/>
              </a:ext>
            </a:extLst>
          </p:cNvPr>
          <p:cNvSpPr>
            <a:spLocks noGrp="1"/>
          </p:cNvSpPr>
          <p:nvPr>
            <p:ph type="sldNum" sz="quarter" idx="5"/>
          </p:nvPr>
        </p:nvSpPr>
        <p:spPr/>
        <p:txBody>
          <a:bodyPr/>
          <a:lstStyle/>
          <a:p>
            <a:fld id="{7C366290-4595-5745-A50F-D5EC13BAC604}" type="slidenum">
              <a:rPr lang="en-US" noProof="0" smtClean="0"/>
              <a:t>80</a:t>
            </a:fld>
            <a:endParaRPr lang="en-US" noProof="0" dirty="0"/>
          </a:p>
        </p:txBody>
      </p:sp>
    </p:spTree>
    <p:extLst>
      <p:ext uri="{BB962C8B-B14F-4D97-AF65-F5344CB8AC3E}">
        <p14:creationId xmlns:p14="http://schemas.microsoft.com/office/powerpoint/2010/main" val="2885784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2599765" y="1801906"/>
            <a:ext cx="7153835" cy="3056966"/>
          </a:xfrm>
        </p:spPr>
        <p:txBody>
          <a:bodyPr anchor="ctr"/>
          <a:lstStyle/>
          <a:p>
            <a:br>
              <a:rPr lang="en-US" sz="3200" dirty="0">
                <a:solidFill>
                  <a:schemeClr val="tx2"/>
                </a:solidFill>
                <a:latin typeface="Aparajita" panose="02020603050405020304" pitchFamily="18" charset="0"/>
                <a:cs typeface="Aparajita" panose="02020603050405020304" pitchFamily="18" charset="0"/>
              </a:rPr>
            </a:br>
            <a:r>
              <a:rPr lang="en-US" sz="3200" dirty="0">
                <a:solidFill>
                  <a:schemeClr val="tx2"/>
                </a:solidFill>
                <a:latin typeface="Aparajita" panose="02020603050405020304" pitchFamily="18" charset="0"/>
                <a:cs typeface="Aparajita" panose="02020603050405020304" pitchFamily="18" charset="0"/>
              </a:rPr>
              <a:t>NAME:- AMAN ANAND</a:t>
            </a:r>
            <a:br>
              <a:rPr lang="en-US" sz="3200" dirty="0">
                <a:solidFill>
                  <a:schemeClr val="tx2"/>
                </a:solidFill>
                <a:latin typeface="Aparajita" panose="02020603050405020304" pitchFamily="18" charset="0"/>
                <a:cs typeface="Aparajita" panose="02020603050405020304" pitchFamily="18" charset="0"/>
              </a:rPr>
            </a:br>
            <a:r>
              <a:rPr lang="en-US" sz="3200" dirty="0">
                <a:solidFill>
                  <a:schemeClr val="tx2"/>
                </a:solidFill>
                <a:latin typeface="Aparajita" panose="02020603050405020304" pitchFamily="18" charset="0"/>
                <a:cs typeface="Aparajita" panose="02020603050405020304" pitchFamily="18" charset="0"/>
              </a:rPr>
              <a:t>  ANUDIP ID:- AF05162474</a:t>
            </a:r>
            <a:br>
              <a:rPr lang="en-US" sz="3200" dirty="0">
                <a:solidFill>
                  <a:schemeClr val="tx2"/>
                </a:solidFill>
                <a:latin typeface="Aparajita" panose="02020603050405020304" pitchFamily="18" charset="0"/>
                <a:cs typeface="Aparajita" panose="02020603050405020304" pitchFamily="18" charset="0"/>
              </a:rPr>
            </a:br>
            <a:r>
              <a:rPr lang="en-US" sz="3200" dirty="0">
                <a:solidFill>
                  <a:schemeClr val="tx2"/>
                </a:solidFill>
                <a:latin typeface="Aparajita" panose="02020603050405020304" pitchFamily="18" charset="0"/>
                <a:cs typeface="Aparajita" panose="02020603050405020304" pitchFamily="18" charset="0"/>
              </a:rPr>
              <a:t>IT(DP)</a:t>
            </a:r>
            <a:br>
              <a:rPr lang="en-US" sz="3200" dirty="0">
                <a:solidFill>
                  <a:schemeClr val="tx2"/>
                </a:solidFill>
                <a:latin typeface="Aparajita" panose="02020603050405020304" pitchFamily="18" charset="0"/>
                <a:cs typeface="Aparajita" panose="02020603050405020304" pitchFamily="18" charset="0"/>
              </a:rPr>
            </a:br>
            <a:r>
              <a:rPr lang="en-US" sz="3200" dirty="0">
                <a:solidFill>
                  <a:schemeClr val="tx2"/>
                </a:solidFill>
                <a:latin typeface="Aparajita" panose="02020603050405020304" pitchFamily="18" charset="0"/>
                <a:cs typeface="Aparajita" panose="02020603050405020304" pitchFamily="18" charset="0"/>
              </a:rPr>
              <a:t>INFORMATION TECHNOLOGY AND DATA PROCESSING</a:t>
            </a:r>
            <a:br>
              <a:rPr lang="en-US" sz="3200" dirty="0">
                <a:solidFill>
                  <a:schemeClr val="tx2"/>
                </a:solidFill>
                <a:latin typeface="Aparajita" panose="02020603050405020304" pitchFamily="18" charset="0"/>
                <a:cs typeface="Aparajita" panose="02020603050405020304" pitchFamily="18" charset="0"/>
              </a:rPr>
            </a:br>
            <a:endParaRPr lang="en-US" sz="3200" dirty="0">
              <a:solidFill>
                <a:schemeClr val="tx2"/>
              </a:solidFill>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title"/>
          </p:nvPr>
        </p:nvSpPr>
        <p:spPr>
          <a:xfrm>
            <a:off x="2775654" y="340660"/>
            <a:ext cx="7632370" cy="493058"/>
          </a:xfrm>
        </p:spPr>
        <p:txBody>
          <a:bodyPr/>
          <a:lstStyle/>
          <a:p>
            <a:r>
              <a:rPr lang="en-US" dirty="0">
                <a:solidFill>
                  <a:schemeClr val="accent2"/>
                </a:solidFill>
                <a:latin typeface="Aparajita" panose="02020603050405020304" pitchFamily="18" charset="0"/>
                <a:cs typeface="Aparajita" panose="02020603050405020304" pitchFamily="18" charset="0"/>
              </a:rPr>
              <a:t>INTRODUCTION TO IT AND BUSINESS SYSTEMS</a:t>
            </a:r>
          </a:p>
        </p:txBody>
      </p:sp>
      <p:sp>
        <p:nvSpPr>
          <p:cNvPr id="3" name="Content Placeholder 2">
            <a:extLst>
              <a:ext uri="{FF2B5EF4-FFF2-40B4-BE49-F238E27FC236}">
                <a16:creationId xmlns:a16="http://schemas.microsoft.com/office/drawing/2014/main" id="{DA4B0F3C-5228-C9FB-1212-1D4894C80B46}"/>
              </a:ext>
            </a:extLst>
          </p:cNvPr>
          <p:cNvSpPr>
            <a:spLocks noGrp="1"/>
          </p:cNvSpPr>
          <p:nvPr>
            <p:ph sz="quarter" idx="13"/>
          </p:nvPr>
        </p:nvSpPr>
        <p:spPr>
          <a:xfrm>
            <a:off x="1779493" y="1096486"/>
            <a:ext cx="8789895" cy="5259489"/>
          </a:xfrm>
        </p:spPr>
        <p:txBody>
          <a:bodyPr>
            <a:normAutofit fontScale="92500" lnSpcReduction="10000"/>
          </a:bodyPr>
          <a:lstStyle/>
          <a:p>
            <a:pPr marL="0" lvl="0" indent="0" eaLnBrk="0" fontAlgn="base" hangingPunct="0">
              <a:lnSpc>
                <a:spcPct val="100000"/>
              </a:lnSpc>
              <a:spcBef>
                <a:spcPct val="0"/>
              </a:spcBef>
              <a:spcAft>
                <a:spcPct val="0"/>
              </a:spcAft>
              <a:buNone/>
            </a:pPr>
            <a:r>
              <a:rPr lang="en-US" sz="2400" dirty="0">
                <a:solidFill>
                  <a:srgbClr val="7030A0"/>
                </a:solidFill>
                <a:latin typeface="Aparajita" panose="02020603050405020304" pitchFamily="18" charset="0"/>
                <a:cs typeface="Aparajita" panose="02020603050405020304" pitchFamily="18" charset="0"/>
              </a:rPr>
              <a:t>Introduction to Information Technology</a:t>
            </a:r>
            <a:br>
              <a:rPr lang="en-US" sz="2400" dirty="0">
                <a:solidFill>
                  <a:srgbClr val="7030A0"/>
                </a:solidFill>
                <a:latin typeface="Aparajita" panose="02020603050405020304" pitchFamily="18" charset="0"/>
                <a:cs typeface="Aparajita" panose="02020603050405020304" pitchFamily="18" charset="0"/>
              </a:rPr>
            </a:br>
            <a:br>
              <a:rPr lang="en-US" sz="2400" dirty="0">
                <a:solidFill>
                  <a:srgbClr val="7030A0"/>
                </a:solidFill>
                <a:latin typeface="Aparajita" panose="02020603050405020304" pitchFamily="18" charset="0"/>
                <a:cs typeface="Aparajita" panose="02020603050405020304" pitchFamily="18" charset="0"/>
              </a:rPr>
            </a:br>
            <a:r>
              <a:rPr lang="en-US" sz="2400" dirty="0">
                <a:solidFill>
                  <a:srgbClr val="7030A0"/>
                </a:solidFill>
                <a:latin typeface="Aparajita" panose="02020603050405020304" pitchFamily="18" charset="0"/>
                <a:cs typeface="Aparajita" panose="02020603050405020304" pitchFamily="18" charset="0"/>
              </a:rPr>
              <a:t>       </a:t>
            </a:r>
            <a:r>
              <a:rPr lang="en-US" sz="2400" cap="none" dirty="0">
                <a:solidFill>
                  <a:srgbClr val="7030A0"/>
                </a:solidFill>
                <a:latin typeface="Arial" panose="020B0604020202020204" pitchFamily="34" charset="0"/>
              </a:rPr>
              <a:t>  </a:t>
            </a:r>
            <a:r>
              <a:rPr lang="en-US" sz="2600" cap="none" dirty="0">
                <a:latin typeface="Aparajita" panose="02020603050405020304" pitchFamily="18" charset="0"/>
                <a:cs typeface="Aparajita" panose="02020603050405020304" pitchFamily="18" charset="0"/>
              </a:rPr>
              <a:t>Information technology (IT) refers to the use of computers, software, and communication networks to store, process, and transmit data efficiently. It helps organizations manage information quickly, accurately, and securely. IT includes technologies such as cloud computing, cybersecurity, databases, and digital communication systems. In today’s digital world, IT plays an important role in improving productivity, communication, and decision-making in organizations</a:t>
            </a:r>
            <a:br>
              <a:rPr lang="en-US" sz="2400" cap="none" dirty="0">
                <a:latin typeface="Aparajita" panose="02020603050405020304" pitchFamily="18" charset="0"/>
                <a:cs typeface="Aparajita" panose="02020603050405020304" pitchFamily="18" charset="0"/>
              </a:rPr>
            </a:br>
            <a:br>
              <a:rPr lang="en-US" sz="2400" cap="none" dirty="0">
                <a:latin typeface="Aparajita" panose="02020603050405020304" pitchFamily="18" charset="0"/>
                <a:cs typeface="Aparajita" panose="02020603050405020304" pitchFamily="18" charset="0"/>
              </a:rPr>
            </a:br>
            <a:r>
              <a:rPr lang="en-US" sz="2400" dirty="0">
                <a:solidFill>
                  <a:srgbClr val="7030A0"/>
                </a:solidFill>
                <a:latin typeface="Aparajita" panose="02020603050405020304" pitchFamily="18" charset="0"/>
                <a:cs typeface="Aparajita" panose="02020603050405020304" pitchFamily="18" charset="0"/>
              </a:rPr>
              <a:t>Importance of Information Technology</a:t>
            </a:r>
            <a:br>
              <a:rPr lang="en-US" sz="2400" dirty="0">
                <a:solidFill>
                  <a:srgbClr val="7030A0"/>
                </a:solidFill>
                <a:latin typeface="Aparajita" panose="02020603050405020304" pitchFamily="18" charset="0"/>
                <a:cs typeface="Aparajita" panose="02020603050405020304" pitchFamily="18" charset="0"/>
              </a:rPr>
            </a:br>
            <a:br>
              <a:rPr lang="en-US" sz="2400" dirty="0">
                <a:solidFill>
                  <a:srgbClr val="7030A0"/>
                </a:solidFill>
                <a:latin typeface="Aparajita" panose="02020603050405020304" pitchFamily="18" charset="0"/>
                <a:cs typeface="Aparajita" panose="02020603050405020304" pitchFamily="18" charset="0"/>
              </a:rPr>
            </a:br>
            <a:r>
              <a:rPr lang="en-US" sz="2400" dirty="0">
                <a:solidFill>
                  <a:srgbClr val="7030A0"/>
                </a:solidFill>
                <a:latin typeface="Aparajita" panose="02020603050405020304" pitchFamily="18" charset="0"/>
                <a:cs typeface="Aparajita" panose="02020603050405020304" pitchFamily="18" charset="0"/>
              </a:rPr>
              <a:t> </a:t>
            </a:r>
            <a:r>
              <a:rPr lang="en-US" sz="2600" cap="none" dirty="0">
                <a:latin typeface="Aparajita" panose="02020603050405020304" pitchFamily="18" charset="0"/>
                <a:cs typeface="Aparajita" panose="02020603050405020304" pitchFamily="18" charset="0"/>
              </a:rPr>
              <a:t>Information technology is essential for modern businesses because it improves efficiency and reduces manual work through automation. IT enables fast communication using emails, messaging applications, and video conferencing tools. It also helps organizations store, process, and analyze large amounts of data for better decision-making. </a:t>
            </a:r>
            <a:endParaRPr lang="en-US" sz="2400" dirty="0">
              <a:solidFill>
                <a:srgbClr val="7030A0"/>
              </a:solidFill>
            </a:endParaRP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4132147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A6891-514F-03DE-7D53-0F2BC37C63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B4DC7D-A480-0E59-CD6B-E00CBAED243A}"/>
              </a:ext>
            </a:extLst>
          </p:cNvPr>
          <p:cNvSpPr>
            <a:spLocks noGrp="1"/>
          </p:cNvSpPr>
          <p:nvPr>
            <p:ph sz="quarter" idx="13"/>
          </p:nvPr>
        </p:nvSpPr>
        <p:spPr>
          <a:xfrm>
            <a:off x="1779493" y="1096487"/>
            <a:ext cx="8789895" cy="4963654"/>
          </a:xfrm>
        </p:spPr>
        <p:txBody>
          <a:bodyPr>
            <a:normAutofit fontScale="40000" lnSpcReduction="20000"/>
          </a:bodyPr>
          <a:lstStyle/>
          <a:p>
            <a:pPr marL="0" lvl="0" indent="0" eaLnBrk="0" fontAlgn="base" hangingPunct="0">
              <a:lnSpc>
                <a:spcPct val="100000"/>
              </a:lnSpc>
              <a:spcBef>
                <a:spcPct val="0"/>
              </a:spcBef>
              <a:spcAft>
                <a:spcPct val="0"/>
              </a:spcAft>
              <a:buNone/>
            </a:pPr>
            <a:br>
              <a:rPr lang="en-US" sz="2400" dirty="0">
                <a:solidFill>
                  <a:srgbClr val="7030A0"/>
                </a:solidFill>
                <a:latin typeface="Aparajita" panose="02020603050405020304" pitchFamily="18" charset="0"/>
                <a:cs typeface="Aparajita" panose="02020603050405020304" pitchFamily="18" charset="0"/>
              </a:rPr>
            </a:br>
            <a:r>
              <a:rPr lang="en-US" sz="6000" dirty="0">
                <a:solidFill>
                  <a:srgbClr val="7030A0"/>
                </a:solidFill>
                <a:latin typeface="Aparajita" panose="02020603050405020304" pitchFamily="18" charset="0"/>
                <a:cs typeface="Aparajita" panose="02020603050405020304" pitchFamily="18" charset="0"/>
              </a:rPr>
              <a:t>Real-Life Applications of IT</a:t>
            </a:r>
            <a:br>
              <a:rPr lang="en-US" sz="6000" dirty="0">
                <a:solidFill>
                  <a:srgbClr val="7030A0"/>
                </a:solidFill>
                <a:latin typeface="Aparajita" panose="02020603050405020304" pitchFamily="18" charset="0"/>
                <a:cs typeface="Aparajita" panose="02020603050405020304" pitchFamily="18" charset="0"/>
              </a:rPr>
            </a:br>
            <a:br>
              <a:rPr lang="en-US" sz="6000" dirty="0">
                <a:solidFill>
                  <a:srgbClr val="7030A0"/>
                </a:solidFill>
                <a:latin typeface="Aparajita" panose="02020603050405020304" pitchFamily="18" charset="0"/>
                <a:cs typeface="Aparajita" panose="02020603050405020304" pitchFamily="18" charset="0"/>
              </a:rPr>
            </a:br>
            <a:r>
              <a:rPr lang="en-US" sz="6000" dirty="0">
                <a:solidFill>
                  <a:srgbClr val="7030A0"/>
                </a:solidFill>
                <a:latin typeface="Aparajita" panose="02020603050405020304" pitchFamily="18" charset="0"/>
                <a:cs typeface="Aparajita" panose="02020603050405020304" pitchFamily="18" charset="0"/>
              </a:rPr>
              <a:t>       </a:t>
            </a:r>
            <a:r>
              <a:rPr lang="en-US" sz="6000" cap="none" dirty="0">
                <a:latin typeface="Aparajita" panose="02020603050405020304" pitchFamily="18" charset="0"/>
                <a:cs typeface="Aparajita" panose="02020603050405020304" pitchFamily="18" charset="0"/>
              </a:rPr>
              <a:t>Information technology (IT) is widely used in many industries such as banking, healthcare, education, and e-commerce. In the banking sector, IT systems are used to process transactions, maintain customer records, and provide online banking services. In healthcare, IT helps hospitals store patient records, schedule appointments, and provide online consultations. Educational institutions use IT for online classes, digital learning platforms, and virtual examinations.</a:t>
            </a:r>
            <a:br>
              <a:rPr lang="en-US" sz="6000" cap="none" dirty="0">
                <a:latin typeface="Aparajita" panose="02020603050405020304" pitchFamily="18" charset="0"/>
                <a:cs typeface="Aparajita" panose="02020603050405020304" pitchFamily="18" charset="0"/>
              </a:rPr>
            </a:br>
            <a:br>
              <a:rPr lang="en-US" sz="6000" cap="none" dirty="0">
                <a:latin typeface="Aparajita" panose="02020603050405020304" pitchFamily="18" charset="0"/>
                <a:cs typeface="Aparajita" panose="02020603050405020304" pitchFamily="18" charset="0"/>
              </a:rPr>
            </a:br>
            <a:r>
              <a:rPr lang="en-US" sz="6000" dirty="0">
                <a:solidFill>
                  <a:srgbClr val="7030A0"/>
                </a:solidFill>
                <a:latin typeface="Aparajita" panose="02020603050405020304" pitchFamily="18" charset="0"/>
                <a:cs typeface="Aparajita" panose="02020603050405020304" pitchFamily="18" charset="0"/>
              </a:rPr>
              <a:t>Importance of IT Applications</a:t>
            </a:r>
            <a:br>
              <a:rPr lang="en-US" sz="6000"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6000" cap="none" dirty="0">
                <a:latin typeface="Aparajita" panose="02020603050405020304" pitchFamily="18" charset="0"/>
                <a:cs typeface="Aparajita" panose="02020603050405020304" pitchFamily="18" charset="0"/>
              </a:rPr>
              <a:t>IT also plays an important role in e-commerce, where online shopping platforms use IT systems to manage products, customer orders, payments, and delivery services. Digital communication and cloud technologies make these services faster and more efficient. These real-life applications show that IT complex operations, improves accuracy, saves time, and increases efficiency in different sectors of modern society.</a:t>
            </a:r>
            <a:endParaRPr lang="en-US" sz="60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52CD0E3E-0B7A-8313-24FC-976E8B306BEF}"/>
              </a:ext>
            </a:extLst>
          </p:cNvPr>
          <p:cNvSpPr>
            <a:spLocks noGrp="1"/>
          </p:cNvSpPr>
          <p:nvPr>
            <p:ph type="sldNum" sz="quarter" idx="4"/>
          </p:nvPr>
        </p:nvSpPr>
        <p:spPr>
          <a:xfrm>
            <a:off x="11353800" y="5879804"/>
            <a:ext cx="661416" cy="895899"/>
          </a:xfrm>
        </p:spPr>
        <p:txBody>
          <a:bodyPr/>
          <a:lstStyle/>
          <a:p>
            <a:r>
              <a:rPr lang="en-US" dirty="0"/>
              <a:t>3</a:t>
            </a:r>
          </a:p>
        </p:txBody>
      </p:sp>
    </p:spTree>
    <p:extLst>
      <p:ext uri="{BB962C8B-B14F-4D97-AF65-F5344CB8AC3E}">
        <p14:creationId xmlns:p14="http://schemas.microsoft.com/office/powerpoint/2010/main" val="2649671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E42B9-7548-BC2B-E8F2-D08B0055FE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A5930F-6010-B997-C56D-0A715190B14C}"/>
              </a:ext>
            </a:extLst>
          </p:cNvPr>
          <p:cNvSpPr>
            <a:spLocks noGrp="1"/>
          </p:cNvSpPr>
          <p:nvPr>
            <p:ph sz="quarter" idx="13"/>
          </p:nvPr>
        </p:nvSpPr>
        <p:spPr>
          <a:xfrm>
            <a:off x="1701052" y="1150276"/>
            <a:ext cx="8789895" cy="4963654"/>
          </a:xfrm>
        </p:spPr>
        <p:txBody>
          <a:bodyPr>
            <a:normAutofit fontScale="32500" lnSpcReduction="20000"/>
          </a:bodyPr>
          <a:lstStyle/>
          <a:p>
            <a:pPr marL="0" lvl="0" indent="0" eaLnBrk="0" fontAlgn="base" hangingPunct="0">
              <a:lnSpc>
                <a:spcPct val="100000"/>
              </a:lnSpc>
              <a:spcBef>
                <a:spcPct val="0"/>
              </a:spcBef>
              <a:spcAft>
                <a:spcPct val="0"/>
              </a:spcAft>
              <a:buNone/>
            </a:pPr>
            <a:br>
              <a:rPr lang="en-US" sz="7400" cap="none" dirty="0">
                <a:solidFill>
                  <a:srgbClr val="7030A0"/>
                </a:solidFill>
                <a:latin typeface="Aparajita" panose="02020603050405020304" pitchFamily="18" charset="0"/>
                <a:cs typeface="Aparajita" panose="02020603050405020304" pitchFamily="18" charset="0"/>
              </a:rPr>
            </a:br>
            <a:r>
              <a:rPr lang="en-US" sz="7400" cap="none" dirty="0">
                <a:solidFill>
                  <a:srgbClr val="7030A0"/>
                </a:solidFill>
                <a:latin typeface="Aparajita" panose="02020603050405020304" pitchFamily="18" charset="0"/>
                <a:cs typeface="Aparajita" panose="02020603050405020304" pitchFamily="18" charset="0"/>
              </a:rPr>
              <a:t>COMPONENTS OF INFORMATION TECHNOLOGY</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7400" cap="none" dirty="0">
                <a:latin typeface="Aparajita" panose="02020603050405020304" pitchFamily="18" charset="0"/>
                <a:cs typeface="Aparajita" panose="02020603050405020304" pitchFamily="18" charset="0"/>
              </a:rPr>
              <a:t>            Information technology (IT) consists of four major components: hardware, software, networks, and data. These components work together to collect, process, store, and share information efficiently. Hardware includes physical devices such as computers, keyboards, printers, and servers. Software refers to programs and applications that help users perform tasks and control hardware operations.</a:t>
            </a:r>
            <a:br>
              <a:rPr lang="en-US" sz="6000" cap="none" dirty="0"/>
            </a:br>
            <a:br>
              <a:rPr lang="en-US" sz="7400" cap="none" dirty="0">
                <a:latin typeface="Aparajita" panose="02020603050405020304" pitchFamily="18" charset="0"/>
                <a:cs typeface="Aparajita" panose="02020603050405020304" pitchFamily="18" charset="0"/>
              </a:rPr>
            </a:br>
            <a:r>
              <a:rPr lang="en-US" sz="7400" cap="none" dirty="0">
                <a:solidFill>
                  <a:srgbClr val="7030A0"/>
                </a:solidFill>
                <a:latin typeface="Aparajita" panose="02020603050405020304" pitchFamily="18" charset="0"/>
                <a:cs typeface="Aparajita" panose="02020603050405020304" pitchFamily="18" charset="0"/>
              </a:rPr>
              <a:t>ROLE OF NETWORKS AND DATA</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7400" cap="none" dirty="0">
                <a:latin typeface="Aparajita" panose="02020603050405020304" pitchFamily="18" charset="0"/>
                <a:cs typeface="Aparajita" panose="02020603050405020304" pitchFamily="18" charset="0"/>
              </a:rPr>
              <a:t>Networks are used to connect computers and devices so that information can be shared quickly through the internet or local networks. Data refers to raw facts and information that are processed into meaningful results. All these components work together to ensure the smooth functioning of IT systems. Without any one of these components, modern IT systems would not operate effectively.</a:t>
            </a:r>
            <a:endParaRPr lang="en-US" sz="74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8846CF72-0C66-DF21-6E9C-3D7458954A98}"/>
              </a:ext>
            </a:extLst>
          </p:cNvPr>
          <p:cNvSpPr>
            <a:spLocks noGrp="1"/>
          </p:cNvSpPr>
          <p:nvPr>
            <p:ph type="sldNum" sz="quarter" idx="4"/>
          </p:nvPr>
        </p:nvSpPr>
        <p:spPr>
          <a:xfrm>
            <a:off x="11353800" y="5879804"/>
            <a:ext cx="661416" cy="895899"/>
          </a:xfrm>
        </p:spPr>
        <p:txBody>
          <a:bodyPr/>
          <a:lstStyle/>
          <a:p>
            <a:r>
              <a:rPr lang="en-US" dirty="0"/>
              <a:t>4</a:t>
            </a:r>
          </a:p>
        </p:txBody>
      </p:sp>
    </p:spTree>
    <p:extLst>
      <p:ext uri="{BB962C8B-B14F-4D97-AF65-F5344CB8AC3E}">
        <p14:creationId xmlns:p14="http://schemas.microsoft.com/office/powerpoint/2010/main" val="3339851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3554E-DF07-88DB-B73F-702062FC37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77E206-270A-5520-E00B-C182C565E097}"/>
              </a:ext>
            </a:extLst>
          </p:cNvPr>
          <p:cNvSpPr>
            <a:spLocks noGrp="1"/>
          </p:cNvSpPr>
          <p:nvPr>
            <p:ph sz="quarter" idx="13"/>
          </p:nvPr>
        </p:nvSpPr>
        <p:spPr>
          <a:xfrm>
            <a:off x="1701052" y="1150276"/>
            <a:ext cx="8789895" cy="4963654"/>
          </a:xfrm>
        </p:spPr>
        <p:txBody>
          <a:bodyPr>
            <a:normAutofit fontScale="25000" lnSpcReduction="20000"/>
          </a:bodyPr>
          <a:lstStyle/>
          <a:p>
            <a:pPr marL="0" lvl="0" indent="0" eaLnBrk="0" fontAlgn="base" hangingPunct="0">
              <a:lnSpc>
                <a:spcPct val="100000"/>
              </a:lnSpc>
              <a:spcBef>
                <a:spcPct val="0"/>
              </a:spcBef>
              <a:spcAft>
                <a:spcPct val="0"/>
              </a:spcAft>
              <a:buNone/>
            </a:pPr>
            <a:br>
              <a:rPr lang="en-US" sz="9600" cap="none"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Functions of IT</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7400" cap="none" dirty="0">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Information technology (IT) performs several important functions that help organizations manage information efficiently. One major function is data storage, where large amounts of information are stored in databases, servers, or cloud systems for easy access and management. Another important function is data processing, in which raw data is converted into meaningful information using software tools and applications. These functions help organizations save time, improve accuracy, and support better decision-making.</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IT also supports communication by enabling users to share information quickly through computer networks, emails, messaging applications, and video conferencing systems. This improves collaboration and connectivity across different locations.</a:t>
            </a:r>
            <a:r>
              <a:rPr lang="en-US" sz="9600" dirty="0">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Another important function of IT is security, which protects data and systems from unauthorized access, cyberattacks, and data loss using methods such as encryption, passwords, antivirus software, and firewalls.</a:t>
            </a:r>
            <a:br>
              <a:rPr lang="en-US" sz="6000" cap="none" dirty="0">
                <a:solidFill>
                  <a:srgbClr val="7030A0"/>
                </a:solidFill>
                <a:latin typeface="Aparajita" panose="02020603050405020304" pitchFamily="18" charset="0"/>
                <a:cs typeface="Aparajita" panose="02020603050405020304" pitchFamily="18" charset="0"/>
              </a:rPr>
            </a:br>
            <a:endParaRPr lang="en-US" sz="74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82DB9B55-ED8E-D636-A490-71F2010F32F2}"/>
              </a:ext>
            </a:extLst>
          </p:cNvPr>
          <p:cNvSpPr>
            <a:spLocks noGrp="1"/>
          </p:cNvSpPr>
          <p:nvPr>
            <p:ph type="sldNum" sz="quarter" idx="4"/>
          </p:nvPr>
        </p:nvSpPr>
        <p:spPr>
          <a:xfrm>
            <a:off x="11353800" y="5879804"/>
            <a:ext cx="661416" cy="895899"/>
          </a:xfrm>
        </p:spPr>
        <p:txBody>
          <a:bodyPr/>
          <a:lstStyle/>
          <a:p>
            <a:r>
              <a:rPr lang="en-US" dirty="0"/>
              <a:t>5</a:t>
            </a:r>
          </a:p>
        </p:txBody>
      </p:sp>
    </p:spTree>
    <p:extLst>
      <p:ext uri="{BB962C8B-B14F-4D97-AF65-F5344CB8AC3E}">
        <p14:creationId xmlns:p14="http://schemas.microsoft.com/office/powerpoint/2010/main" val="3274125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FD099-01A8-AC80-5D25-AF9FCFE728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C5167-E251-5424-4A53-1DEE0212D423}"/>
              </a:ext>
            </a:extLst>
          </p:cNvPr>
          <p:cNvSpPr>
            <a:spLocks noGrp="1"/>
          </p:cNvSpPr>
          <p:nvPr>
            <p:ph sz="quarter" idx="13"/>
          </p:nvPr>
        </p:nvSpPr>
        <p:spPr>
          <a:xfrm>
            <a:off x="1701052" y="1150276"/>
            <a:ext cx="8789895" cy="4963654"/>
          </a:xfrm>
        </p:spPr>
        <p:txBody>
          <a:bodyPr>
            <a:normAutofit fontScale="25000" lnSpcReduction="20000"/>
          </a:bodyPr>
          <a:lstStyle/>
          <a:p>
            <a:pPr marL="0" lvl="0" indent="0" eaLnBrk="0" fontAlgn="base" hangingPunct="0">
              <a:lnSpc>
                <a:spcPct val="100000"/>
              </a:lnSpc>
              <a:spcBef>
                <a:spcPct val="0"/>
              </a:spcBef>
              <a:spcAft>
                <a:spcPct val="0"/>
              </a:spcAft>
              <a:buNone/>
            </a:pPr>
            <a:br>
              <a:rPr lang="en-US" sz="9600" cap="none"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IT in Business</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7400" cap="none" dirty="0">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Information technology (IT) plays a vital role in modern businesses by improving efficiency, productivity, and communication. It helps organizations automate repetitive tasks, reduce manual errors, and manage business operations more effectively. IT systems also support faster communication and better decision-making through data analysis and real-time information. Businesses use IT to improve customer service, increase innovation, and adapt quickly to changing market conditions</a:t>
            </a:r>
            <a:r>
              <a:rPr lang="en-US" sz="9600" dirty="0"/>
              <a:t>.</a:t>
            </a:r>
            <a:br>
              <a:rPr lang="en-US" sz="9600" dirty="0"/>
            </a:b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Role of IT in Business Operations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IT is used in different business functions such as marketing, finance, human resources, and operations. Businesses use technologies like CRM systems to manage customer relationships and e-commerce platforms to sell products and services online. IT also allows organizations to connect teams across different locations, making global business operations possible.</a:t>
            </a:r>
            <a:br>
              <a:rPr lang="en-US" sz="6000" cap="none" dirty="0">
                <a:solidFill>
                  <a:srgbClr val="7030A0"/>
                </a:solidFill>
                <a:latin typeface="Aparajita" panose="02020603050405020304" pitchFamily="18" charset="0"/>
                <a:cs typeface="Aparajita" panose="02020603050405020304" pitchFamily="18" charset="0"/>
              </a:rPr>
            </a:br>
            <a:endParaRPr lang="en-US" sz="74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D5FD91E1-555C-DDA0-581E-555ED06DE9A7}"/>
              </a:ext>
            </a:extLst>
          </p:cNvPr>
          <p:cNvSpPr>
            <a:spLocks noGrp="1"/>
          </p:cNvSpPr>
          <p:nvPr>
            <p:ph type="sldNum" sz="quarter" idx="4"/>
          </p:nvPr>
        </p:nvSpPr>
        <p:spPr>
          <a:xfrm>
            <a:off x="11353800" y="5879804"/>
            <a:ext cx="661416" cy="895899"/>
          </a:xfrm>
        </p:spPr>
        <p:txBody>
          <a:bodyPr/>
          <a:lstStyle/>
          <a:p>
            <a:r>
              <a:rPr lang="en-US" dirty="0"/>
              <a:t>6</a:t>
            </a:r>
          </a:p>
        </p:txBody>
      </p:sp>
    </p:spTree>
    <p:extLst>
      <p:ext uri="{BB962C8B-B14F-4D97-AF65-F5344CB8AC3E}">
        <p14:creationId xmlns:p14="http://schemas.microsoft.com/office/powerpoint/2010/main" val="2808186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12E08-5D29-A5DD-1D0A-5EFC1EA7CE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F0D3FD-6CAB-9EF5-AEE1-ABE1986CDF3E}"/>
              </a:ext>
            </a:extLst>
          </p:cNvPr>
          <p:cNvSpPr>
            <a:spLocks noGrp="1"/>
          </p:cNvSpPr>
          <p:nvPr>
            <p:ph sz="quarter" idx="13"/>
          </p:nvPr>
        </p:nvSpPr>
        <p:spPr>
          <a:xfrm>
            <a:off x="1701052" y="1150276"/>
            <a:ext cx="8789895" cy="4963654"/>
          </a:xfrm>
        </p:spPr>
        <p:txBody>
          <a:bodyPr>
            <a:normAutofit fontScale="25000" lnSpcReduction="20000"/>
          </a:bodyPr>
          <a:lstStyle/>
          <a:p>
            <a:pPr marL="0" lvl="0" indent="0" eaLnBrk="0" fontAlgn="base" hangingPunct="0">
              <a:lnSpc>
                <a:spcPct val="100000"/>
              </a:lnSpc>
              <a:spcBef>
                <a:spcPct val="0"/>
              </a:spcBef>
              <a:spcAft>
                <a:spcPct val="0"/>
              </a:spcAft>
              <a:buNone/>
            </a:pPr>
            <a:br>
              <a:rPr lang="en-US" sz="9600" cap="none"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Introduction to ERP</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7400" cap="none" dirty="0">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Enterprise resource planning (ERP) is an integrated software system used by organizations to manage and coordinate various business processes through a single centralized platform. It connects different departments such as finance, human resources (HR), sales, marketing, inventory, production, and supply chain management, enabling them to share information and work together efficiently. ERP systems use a centralized database where all organizational data is stored, updated, and accessed in real time, ensuring accuracy and consistency across all departments.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The main purpose of ERP is to streamline business operations by automating routine tasks and improving communication between different functional areas of an organization. Instead of using separate software systems for each department, ERP combines all business activities into one integrated system. This integration reduces duplication of data, minimizes human errors, saves time, and improves productivity.</a:t>
            </a:r>
            <a:br>
              <a:rPr lang="en-US" sz="9600" dirty="0"/>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endParaRPr lang="en-US" sz="74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48C42F14-23C7-0EB4-5BA7-23F6C37FA441}"/>
              </a:ext>
            </a:extLst>
          </p:cNvPr>
          <p:cNvSpPr>
            <a:spLocks noGrp="1"/>
          </p:cNvSpPr>
          <p:nvPr>
            <p:ph type="sldNum" sz="quarter" idx="4"/>
          </p:nvPr>
        </p:nvSpPr>
        <p:spPr>
          <a:xfrm>
            <a:off x="11353800" y="5879804"/>
            <a:ext cx="661416" cy="895899"/>
          </a:xfrm>
        </p:spPr>
        <p:txBody>
          <a:bodyPr/>
          <a:lstStyle/>
          <a:p>
            <a:r>
              <a:rPr lang="en-US" dirty="0"/>
              <a:t>7</a:t>
            </a:r>
          </a:p>
        </p:txBody>
      </p:sp>
    </p:spTree>
    <p:extLst>
      <p:ext uri="{BB962C8B-B14F-4D97-AF65-F5344CB8AC3E}">
        <p14:creationId xmlns:p14="http://schemas.microsoft.com/office/powerpoint/2010/main" val="390101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AD372-B7E0-FFD8-14B1-8991864D4C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5F40EA-0F67-5BD4-56F9-D337DD698C42}"/>
              </a:ext>
            </a:extLst>
          </p:cNvPr>
          <p:cNvSpPr>
            <a:spLocks noGrp="1"/>
          </p:cNvSpPr>
          <p:nvPr>
            <p:ph sz="quarter" idx="13"/>
          </p:nvPr>
        </p:nvSpPr>
        <p:spPr>
          <a:xfrm>
            <a:off x="1701052" y="1150276"/>
            <a:ext cx="8789895" cy="4963654"/>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Functions and Benefits of ERP</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7400" cap="none" dirty="0">
                <a:latin typeface="Aparajita" panose="02020603050405020304" pitchFamily="18" charset="0"/>
                <a:cs typeface="Aparajita" panose="02020603050405020304" pitchFamily="18" charset="0"/>
              </a:rPr>
              <a:t>           </a:t>
            </a:r>
            <a:r>
              <a:rPr lang="en-US" sz="9600" cap="none" dirty="0" err="1">
                <a:latin typeface="Aparajita" panose="02020603050405020304" pitchFamily="18" charset="0"/>
                <a:cs typeface="Aparajita" panose="02020603050405020304" pitchFamily="18" charset="0"/>
              </a:rPr>
              <a:t>ERP</a:t>
            </a:r>
            <a:r>
              <a:rPr lang="en-US" sz="9600" cap="none" dirty="0">
                <a:latin typeface="Aparajita" panose="02020603050405020304" pitchFamily="18" charset="0"/>
                <a:cs typeface="Aparajita" panose="02020603050405020304" pitchFamily="18" charset="0"/>
              </a:rPr>
              <a:t> systems perform many important functions that help organizations manage their business operations efficiently. They manage financial activities such as accounting, budgeting, payroll, and financial reporting. ERP also supports human resource management by handling employee records, attendance, recruitment, and performance evaluation. In addition, ERP systems manage inventory, production, customer orders, and supply chain processes, ensuring smooth coordination between different departments.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One of the major benefits of ERP is automation, which reduces manual work and saves time by automatically performing routine tasks. ERP systems provide real-time data and information, helping managers monitor business activities and make faster and better decisions. Since all departments use the same centralized database, ERP reduces duplication of data and improves data accuracy and consistency across the organization. ERP also enhances communication and coordination between departments because information can be shared instantly within the system.</a:t>
            </a:r>
            <a:r>
              <a:rPr lang="en-US" sz="9600" dirty="0"/>
              <a:t> </a:t>
            </a:r>
            <a:r>
              <a:rPr lang="en-US" sz="9600" cap="none" dirty="0">
                <a:latin typeface="Aparajita" panose="02020603050405020304" pitchFamily="18" charset="0"/>
                <a:cs typeface="Aparajita" panose="02020603050405020304" pitchFamily="18" charset="0"/>
              </a:rPr>
              <a:t>This improves productivity and operational efficiency.</a:t>
            </a:r>
          </a:p>
          <a:p>
            <a:pPr marL="0" lvl="0" indent="0" eaLnBrk="0" fontAlgn="base" hangingPunct="0">
              <a:lnSpc>
                <a:spcPct val="100000"/>
              </a:lnSpc>
              <a:spcBef>
                <a:spcPct val="0"/>
              </a:spcBef>
              <a:spcAft>
                <a:spcPct val="0"/>
              </a:spcAft>
              <a:buNone/>
            </a:pPr>
            <a:br>
              <a:rPr lang="en-US" sz="9600" dirty="0"/>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endParaRPr lang="en-US" sz="74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FD37C36F-FFD1-3A63-F9A0-E0B2D3E4E58B}"/>
              </a:ext>
            </a:extLst>
          </p:cNvPr>
          <p:cNvSpPr>
            <a:spLocks noGrp="1"/>
          </p:cNvSpPr>
          <p:nvPr>
            <p:ph type="sldNum" sz="quarter" idx="4"/>
          </p:nvPr>
        </p:nvSpPr>
        <p:spPr>
          <a:xfrm>
            <a:off x="11353800" y="5879804"/>
            <a:ext cx="661416" cy="895899"/>
          </a:xfrm>
        </p:spPr>
        <p:txBody>
          <a:bodyPr/>
          <a:lstStyle/>
          <a:p>
            <a:r>
              <a:rPr lang="en-US" dirty="0"/>
              <a:t>8</a:t>
            </a:r>
          </a:p>
        </p:txBody>
      </p:sp>
    </p:spTree>
    <p:extLst>
      <p:ext uri="{BB962C8B-B14F-4D97-AF65-F5344CB8AC3E}">
        <p14:creationId xmlns:p14="http://schemas.microsoft.com/office/powerpoint/2010/main" val="1022157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8EAE2-7A75-0B44-69FA-E680620A78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78A19D-8804-FFCD-725F-AF1FAC9D8D08}"/>
              </a:ext>
            </a:extLst>
          </p:cNvPr>
          <p:cNvSpPr>
            <a:spLocks noGrp="1"/>
          </p:cNvSpPr>
          <p:nvPr>
            <p:ph sz="quarter" idx="13"/>
          </p:nvPr>
        </p:nvSpPr>
        <p:spPr>
          <a:xfrm>
            <a:off x="1701052" y="1150276"/>
            <a:ext cx="8789895" cy="4963654"/>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Business Strategy vs IT Strategy</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7400" cap="none" dirty="0">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Business strategy and IT strategy are both important for the success of an organization, but they focus on different areas. Business strategy defines the goals, objectives, and long-term direction of the organization. It focuses on what the business wants to achieve, such as increasing profits, improving customer satisfaction, expanding into new markets, or gaining a competitive advantage. Business strategy helps organizations plan their growth and make important decisions related to business operations and market opportunities.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It strategy focuses on the use of technology and information systems to support and achieve business goals. It explains how technology can be used to improve efficiency, communication, productivity, and decision-making within the organization. IT strategy includes planning for hardware, software, networks, cybersecurity, cloud computing, and digital transformation initiatives.</a:t>
            </a:r>
            <a:r>
              <a:rPr lang="en-US" sz="9600" dirty="0"/>
              <a:t> </a:t>
            </a:r>
            <a:r>
              <a:rPr lang="en-US" sz="9600" cap="none" dirty="0">
                <a:latin typeface="Aparajita" panose="02020603050405020304" pitchFamily="18" charset="0"/>
                <a:cs typeface="Aparajita" panose="02020603050405020304" pitchFamily="18" charset="0"/>
              </a:rPr>
              <a:t>Proper alignment between business and IT strategies improves operational efficiency, supports innovation, reduces costs, and helps organizations respond effectively to changing market conditions.</a:t>
            </a:r>
          </a:p>
          <a:p>
            <a:pPr marL="0" lvl="0" indent="0" eaLnBrk="0" fontAlgn="base" hangingPunct="0">
              <a:lnSpc>
                <a:spcPct val="100000"/>
              </a:lnSpc>
              <a:spcBef>
                <a:spcPct val="0"/>
              </a:spcBef>
              <a:spcAft>
                <a:spcPct val="0"/>
              </a:spcAft>
              <a:buNone/>
            </a:pPr>
            <a:br>
              <a:rPr lang="en-US" sz="9600" dirty="0"/>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endParaRPr lang="en-US" sz="74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FC79AC69-906C-6EAB-6287-601BCCF65C73}"/>
              </a:ext>
            </a:extLst>
          </p:cNvPr>
          <p:cNvSpPr>
            <a:spLocks noGrp="1"/>
          </p:cNvSpPr>
          <p:nvPr>
            <p:ph type="sldNum" sz="quarter" idx="4"/>
          </p:nvPr>
        </p:nvSpPr>
        <p:spPr>
          <a:xfrm>
            <a:off x="11353800" y="5879804"/>
            <a:ext cx="661416" cy="895899"/>
          </a:xfrm>
        </p:spPr>
        <p:txBody>
          <a:bodyPr/>
          <a:lstStyle/>
          <a:p>
            <a:r>
              <a:rPr lang="en-US" dirty="0"/>
              <a:t>9</a:t>
            </a:r>
          </a:p>
        </p:txBody>
      </p:sp>
    </p:spTree>
    <p:extLst>
      <p:ext uri="{BB962C8B-B14F-4D97-AF65-F5344CB8AC3E}">
        <p14:creationId xmlns:p14="http://schemas.microsoft.com/office/powerpoint/2010/main" val="1649751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15D10-499A-5543-E15C-92FD9F8652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C2074F-124C-B639-F9E7-B4AB218DBAD3}"/>
              </a:ext>
            </a:extLst>
          </p:cNvPr>
          <p:cNvSpPr>
            <a:spLocks noGrp="1"/>
          </p:cNvSpPr>
          <p:nvPr>
            <p:ph sz="quarter" idx="13"/>
          </p:nvPr>
        </p:nvSpPr>
        <p:spPr>
          <a:xfrm>
            <a:off x="1550894" y="1150276"/>
            <a:ext cx="8940053" cy="4891936"/>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IT-Business Alignment</a:t>
            </a:r>
            <a:br>
              <a:rPr lang="en-US" sz="9600"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It-business alignment is the process of ensuring that information technology (IT) systems and strategies support the goals and objectives of an organization. It helps businesses use technology effectively to improve efficiency, productivity, communication, and overall performance. When IT and business strategies are properly aligned, organizations can make better decisions, reduce operational costs, improve customer service, and achieve a higher return on investment (ROI). It-business alignment also helps organizations respond quickly to market changes and maintain a competitive advantage.</a:t>
            </a:r>
            <a:br>
              <a:rPr lang="en-US" sz="9600" cap="none" dirty="0">
                <a:solidFill>
                  <a:srgbClr val="7030A0"/>
                </a:solidFill>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However, achieving proper alignment can be challenging due to factors such as communication gaps between it professionals and business managers, limited resources, and rapid technological changes. Organizations may also face resistance to change when implementing new technologies and systems. To overcome these challenges, businesses need proper planning, effective communication, employee training, and continuous collaboration between IT teams and management.</a:t>
            </a:r>
          </a:p>
          <a:p>
            <a:pPr marL="0" lvl="0" indent="0" eaLnBrk="0" fontAlgn="base" hangingPunct="0">
              <a:lnSpc>
                <a:spcPct val="100000"/>
              </a:lnSpc>
              <a:spcBef>
                <a:spcPct val="0"/>
              </a:spcBef>
              <a:spcAft>
                <a:spcPct val="0"/>
              </a:spcAft>
              <a:buNone/>
            </a:pPr>
            <a:br>
              <a:rPr lang="en-US" sz="9600" dirty="0"/>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endParaRPr lang="en-US" sz="74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2AE0B902-513F-516F-C01F-88A077B2EA67}"/>
              </a:ext>
            </a:extLst>
          </p:cNvPr>
          <p:cNvSpPr>
            <a:spLocks noGrp="1"/>
          </p:cNvSpPr>
          <p:nvPr>
            <p:ph type="sldNum" sz="quarter" idx="4"/>
          </p:nvPr>
        </p:nvSpPr>
        <p:spPr>
          <a:xfrm>
            <a:off x="11353800" y="5879804"/>
            <a:ext cx="661416" cy="895899"/>
          </a:xfrm>
        </p:spPr>
        <p:txBody>
          <a:bodyPr/>
          <a:lstStyle/>
          <a:p>
            <a:r>
              <a:rPr lang="en-US" dirty="0"/>
              <a:t>10</a:t>
            </a:r>
          </a:p>
        </p:txBody>
      </p:sp>
    </p:spTree>
    <p:extLst>
      <p:ext uri="{BB962C8B-B14F-4D97-AF65-F5344CB8AC3E}">
        <p14:creationId xmlns:p14="http://schemas.microsoft.com/office/powerpoint/2010/main" val="1275681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A0ECE-AAEE-5508-0C7C-79A3D6F67BB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F860573-34F4-9718-0C9C-46379B78B9AD}"/>
              </a:ext>
            </a:extLst>
          </p:cNvPr>
          <p:cNvSpPr>
            <a:spLocks noGrp="1"/>
          </p:cNvSpPr>
          <p:nvPr>
            <p:ph type="title"/>
          </p:nvPr>
        </p:nvSpPr>
        <p:spPr>
          <a:xfrm>
            <a:off x="3196995" y="313765"/>
            <a:ext cx="6637287" cy="555812"/>
          </a:xfrm>
        </p:spPr>
        <p:txBody>
          <a:bodyPr/>
          <a:lstStyle/>
          <a:p>
            <a:r>
              <a:rPr lang="en-US" dirty="0">
                <a:solidFill>
                  <a:schemeClr val="accent2"/>
                </a:solidFill>
                <a:latin typeface="Aparajita" panose="02020603050405020304" pitchFamily="18" charset="0"/>
                <a:cs typeface="Aparajita" panose="02020603050405020304" pitchFamily="18" charset="0"/>
              </a:rPr>
              <a:t>DATA TYPES, SOURCES, AND LIFECYCLE</a:t>
            </a:r>
          </a:p>
        </p:txBody>
      </p:sp>
      <p:sp>
        <p:nvSpPr>
          <p:cNvPr id="3" name="Content Placeholder 2">
            <a:extLst>
              <a:ext uri="{FF2B5EF4-FFF2-40B4-BE49-F238E27FC236}">
                <a16:creationId xmlns:a16="http://schemas.microsoft.com/office/drawing/2014/main" id="{CD5C0E9B-5F90-9703-FD9B-C4A9944C8D85}"/>
              </a:ext>
            </a:extLst>
          </p:cNvPr>
          <p:cNvSpPr>
            <a:spLocks noGrp="1"/>
          </p:cNvSpPr>
          <p:nvPr>
            <p:ph sz="quarter" idx="13"/>
          </p:nvPr>
        </p:nvSpPr>
        <p:spPr>
          <a:xfrm>
            <a:off x="1779493" y="1096486"/>
            <a:ext cx="8789895" cy="5259489"/>
          </a:xfrm>
        </p:spPr>
        <p:txBody>
          <a:bodyPr>
            <a:normAutofit fontScale="92500" lnSpcReduction="10000"/>
          </a:bodyPr>
          <a:lstStyle/>
          <a:p>
            <a:pPr marL="0" lvl="0" indent="0" eaLnBrk="0" fontAlgn="base" hangingPunct="0">
              <a:lnSpc>
                <a:spcPct val="100000"/>
              </a:lnSpc>
              <a:spcBef>
                <a:spcPct val="0"/>
              </a:spcBef>
              <a:spcAft>
                <a:spcPct val="0"/>
              </a:spcAft>
              <a:buNone/>
            </a:pPr>
            <a:br>
              <a:rPr lang="en-US" sz="2600" dirty="0">
                <a:solidFill>
                  <a:srgbClr val="7030A0"/>
                </a:solidFill>
                <a:latin typeface="Aparajita" panose="02020603050405020304" pitchFamily="18" charset="0"/>
                <a:cs typeface="Aparajita" panose="02020603050405020304" pitchFamily="18" charset="0"/>
              </a:rPr>
            </a:br>
            <a:r>
              <a:rPr lang="en-US" sz="2600" dirty="0">
                <a:solidFill>
                  <a:srgbClr val="7030A0"/>
                </a:solidFill>
                <a:latin typeface="Aparajita" panose="02020603050405020304" pitchFamily="18" charset="0"/>
                <a:cs typeface="Aparajita" panose="02020603050405020304" pitchFamily="18" charset="0"/>
              </a:rPr>
              <a:t>Introduction to Data</a:t>
            </a:r>
            <a:br>
              <a:rPr lang="en-US" sz="2400" dirty="0">
                <a:solidFill>
                  <a:srgbClr val="7030A0"/>
                </a:solidFill>
                <a:latin typeface="Aparajita" panose="02020603050405020304" pitchFamily="18" charset="0"/>
                <a:cs typeface="Aparajita" panose="02020603050405020304" pitchFamily="18" charset="0"/>
              </a:rPr>
            </a:br>
            <a:br>
              <a:rPr lang="en-US" sz="2400" dirty="0">
                <a:solidFill>
                  <a:srgbClr val="7030A0"/>
                </a:solidFill>
                <a:latin typeface="Aparajita" panose="02020603050405020304" pitchFamily="18" charset="0"/>
                <a:cs typeface="Aparajita" panose="02020603050405020304" pitchFamily="18" charset="0"/>
              </a:rPr>
            </a:br>
            <a:r>
              <a:rPr lang="en-US" sz="2400" dirty="0">
                <a:solidFill>
                  <a:srgbClr val="7030A0"/>
                </a:solidFill>
                <a:latin typeface="Aparajita" panose="02020603050405020304" pitchFamily="18" charset="0"/>
                <a:cs typeface="Aparajita" panose="02020603050405020304" pitchFamily="18" charset="0"/>
              </a:rPr>
              <a:t>       </a:t>
            </a:r>
            <a:r>
              <a:rPr lang="en-US" sz="2400" cap="none" dirty="0">
                <a:solidFill>
                  <a:srgbClr val="7030A0"/>
                </a:solidFill>
                <a:latin typeface="Arial" panose="020B0604020202020204" pitchFamily="34" charset="0"/>
              </a:rPr>
              <a:t> </a:t>
            </a:r>
            <a:r>
              <a:rPr lang="en-US" sz="2600" cap="none" dirty="0" err="1">
                <a:latin typeface="Aparajita" panose="02020603050405020304" pitchFamily="18" charset="0"/>
                <a:cs typeface="Aparajita" panose="02020603050405020304" pitchFamily="18" charset="0"/>
              </a:rPr>
              <a:t>Data</a:t>
            </a:r>
            <a:r>
              <a:rPr lang="en-US" sz="2600" cap="none" dirty="0">
                <a:latin typeface="Aparajita" panose="02020603050405020304" pitchFamily="18" charset="0"/>
                <a:cs typeface="Aparajita" panose="02020603050405020304" pitchFamily="18" charset="0"/>
              </a:rPr>
              <a:t> refers to raw facts, figures, and observations collected from different sources. It can exist in various forms such as numbers, text, images, audio, and videos. On its own, data does not provide meaningful information, but when it is processed, organized, and analyzed, it becomes useful information that supports decision-making. In today’s digital world, organizations generate huge amounts of data every day through online transactions, websites, social media platforms, mobile applications, and sensors. Businesses use this data to understand customer behavior, improve products and services, identify trends, and make better business decisions. Data is considered one of the most valuable assets of modern organizations because it supports analysis, forecasting, planning, and innovation. Proper management and analysis of data help organizations increase efficiency, improve performance, and gain a competitive advantage in the market.</a:t>
            </a:r>
            <a:endParaRPr lang="en-US" sz="26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6571E4B8-9D64-A9E4-D6D5-3287B611BF6E}"/>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1766756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C0A64-4F7D-8E68-C1E0-D1569D82CB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2F7C36-33F3-DE1B-1B6E-2D7BDBECBD51}"/>
              </a:ext>
            </a:extLst>
          </p:cNvPr>
          <p:cNvSpPr>
            <a:spLocks noGrp="1"/>
          </p:cNvSpPr>
          <p:nvPr>
            <p:ph sz="quarter" idx="13"/>
          </p:nvPr>
        </p:nvSpPr>
        <p:spPr>
          <a:xfrm>
            <a:off x="1851210" y="694765"/>
            <a:ext cx="8628531" cy="5468469"/>
          </a:xfrm>
        </p:spPr>
        <p:txBody>
          <a:bodyPr>
            <a:normAutofit fontScale="92500" lnSpcReduction="10000"/>
          </a:bodyPr>
          <a:lstStyle/>
          <a:p>
            <a:pPr marL="0" lvl="0" indent="0" eaLnBrk="0" fontAlgn="base" hangingPunct="0">
              <a:lnSpc>
                <a:spcPct val="100000"/>
              </a:lnSpc>
              <a:spcBef>
                <a:spcPct val="0"/>
              </a:spcBef>
              <a:spcAft>
                <a:spcPct val="0"/>
              </a:spcAft>
              <a:buNone/>
            </a:pPr>
            <a:br>
              <a:rPr lang="en-US" sz="2600" dirty="0">
                <a:solidFill>
                  <a:srgbClr val="7030A0"/>
                </a:solidFill>
                <a:latin typeface="Aparajita" panose="02020603050405020304" pitchFamily="18" charset="0"/>
                <a:cs typeface="Aparajita" panose="02020603050405020304" pitchFamily="18" charset="0"/>
              </a:rPr>
            </a:br>
            <a:r>
              <a:rPr lang="en-US" sz="2800" dirty="0">
                <a:solidFill>
                  <a:srgbClr val="7030A0"/>
                </a:solidFill>
                <a:latin typeface="Aparajita" panose="02020603050405020304" pitchFamily="18" charset="0"/>
                <a:cs typeface="Aparajita" panose="02020603050405020304" pitchFamily="18" charset="0"/>
              </a:rPr>
              <a:t>Importance of Data in Modern Business</a:t>
            </a:r>
            <a:br>
              <a:rPr lang="en-US" sz="2400" dirty="0">
                <a:solidFill>
                  <a:srgbClr val="7030A0"/>
                </a:solidFill>
                <a:latin typeface="Aparajita" panose="02020603050405020304" pitchFamily="18" charset="0"/>
                <a:cs typeface="Aparajita" panose="02020603050405020304" pitchFamily="18" charset="0"/>
              </a:rPr>
            </a:br>
            <a:br>
              <a:rPr lang="en-US" sz="2400" dirty="0">
                <a:solidFill>
                  <a:srgbClr val="7030A0"/>
                </a:solidFill>
                <a:latin typeface="Aparajita" panose="02020603050405020304" pitchFamily="18" charset="0"/>
                <a:cs typeface="Aparajita" panose="02020603050405020304" pitchFamily="18" charset="0"/>
              </a:rPr>
            </a:br>
            <a:r>
              <a:rPr lang="en-US" sz="2400" dirty="0">
                <a:solidFill>
                  <a:srgbClr val="7030A0"/>
                </a:solidFill>
                <a:latin typeface="Aparajita" panose="02020603050405020304" pitchFamily="18" charset="0"/>
                <a:cs typeface="Aparajita" panose="02020603050405020304" pitchFamily="18" charset="0"/>
              </a:rPr>
              <a:t>       </a:t>
            </a:r>
            <a:r>
              <a:rPr lang="en-US" sz="2400" cap="none" dirty="0">
                <a:solidFill>
                  <a:srgbClr val="7030A0"/>
                </a:solidFill>
                <a:latin typeface="Arial" panose="020B0604020202020204" pitchFamily="34" charset="0"/>
              </a:rPr>
              <a:t> </a:t>
            </a:r>
            <a:r>
              <a:rPr lang="en-US" sz="2600" cap="none" dirty="0">
                <a:latin typeface="Aparajita" panose="02020603050405020304" pitchFamily="18" charset="0"/>
                <a:cs typeface="Aparajita" panose="02020603050405020304" pitchFamily="18" charset="0"/>
              </a:rPr>
              <a:t>Data plays a critical role in modern business operations and decision-making. Organizations collect and analyze data to understand market trends, customer preferences, and business opportunities. By using accurate and reliable data, managers can make informed decisions based on facts and analysis rather than assumptions or guesses. This helps organizations reduce risks, improve planning, and achieve better business outcomes</a:t>
            </a:r>
            <a:r>
              <a:rPr lang="en-US" sz="2400" cap="none" dirty="0">
                <a:latin typeface="Aparajita" panose="02020603050405020304" pitchFamily="18" charset="0"/>
                <a:cs typeface="Aparajita" panose="02020603050405020304" pitchFamily="18" charset="0"/>
              </a:rPr>
              <a:t>.</a:t>
            </a:r>
            <a:br>
              <a:rPr lang="en-US" sz="2400" cap="none" dirty="0">
                <a:latin typeface="Aparajita" panose="02020603050405020304" pitchFamily="18" charset="0"/>
                <a:cs typeface="Aparajita" panose="02020603050405020304" pitchFamily="18" charset="0"/>
              </a:rPr>
            </a:br>
            <a:br>
              <a:rPr lang="en-US" sz="2600" cap="none" dirty="0">
                <a:latin typeface="Aparajita" panose="02020603050405020304" pitchFamily="18" charset="0"/>
                <a:cs typeface="Aparajita" panose="02020603050405020304" pitchFamily="18" charset="0"/>
              </a:rPr>
            </a:br>
            <a:r>
              <a:rPr lang="en-US" sz="2600" cap="none" dirty="0">
                <a:latin typeface="Aparajita" panose="02020603050405020304" pitchFamily="18" charset="0"/>
                <a:cs typeface="Aparajita" panose="02020603050405020304" pitchFamily="18" charset="0"/>
              </a:rPr>
              <a:t>Data also helps businesses improve efficiency and productivity by identifying weaknesses, monitoring performance, and improving operational processes. Organizations can analyze customer feedback, sales records, and employee performance data to make necessary improvements and increase overall effectiveness. In addition, data supports forecasting and strategic planning, helping businesses predict future trends and market demands.</a:t>
            </a:r>
            <a:endParaRPr lang="en-US" sz="26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66CDD38C-42BF-6455-B800-0B64CE58A6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1333242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DC08B-2239-E739-122E-01FA4A2533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611D01-2EF7-B1D0-CCA8-505D38A5A47E}"/>
              </a:ext>
            </a:extLst>
          </p:cNvPr>
          <p:cNvSpPr>
            <a:spLocks noGrp="1"/>
          </p:cNvSpPr>
          <p:nvPr>
            <p:ph sz="quarter" idx="13"/>
          </p:nvPr>
        </p:nvSpPr>
        <p:spPr>
          <a:xfrm>
            <a:off x="1779493" y="887507"/>
            <a:ext cx="8718178" cy="5208494"/>
          </a:xfrm>
        </p:spPr>
        <p:txBody>
          <a:bodyPr>
            <a:normAutofit fontScale="92500" lnSpcReduction="10000"/>
          </a:bodyPr>
          <a:lstStyle/>
          <a:p>
            <a:pPr marL="0" indent="0" eaLnBrk="0" fontAlgn="base" hangingPunct="0">
              <a:lnSpc>
                <a:spcPct val="100000"/>
              </a:lnSpc>
              <a:spcBef>
                <a:spcPct val="0"/>
              </a:spcBef>
              <a:spcAft>
                <a:spcPct val="0"/>
              </a:spcAft>
              <a:buNone/>
            </a:pPr>
            <a:br>
              <a:rPr lang="en-US" sz="2600" dirty="0">
                <a:solidFill>
                  <a:srgbClr val="7030A0"/>
                </a:solidFill>
                <a:latin typeface="Aparajita" panose="02020603050405020304" pitchFamily="18" charset="0"/>
                <a:cs typeface="Aparajita" panose="02020603050405020304" pitchFamily="18" charset="0"/>
              </a:rPr>
            </a:br>
            <a:r>
              <a:rPr lang="en-US" sz="2600" b="1" dirty="0">
                <a:solidFill>
                  <a:srgbClr val="7030A0"/>
                </a:solidFill>
                <a:latin typeface="Aparajita" panose="02020603050405020304" pitchFamily="18" charset="0"/>
                <a:cs typeface="Aparajita" panose="02020603050405020304" pitchFamily="18" charset="0"/>
              </a:rPr>
              <a:t>Types of Data</a:t>
            </a:r>
            <a:br>
              <a:rPr lang="en-US" sz="2600" b="1" dirty="0">
                <a:solidFill>
                  <a:srgbClr val="7030A0"/>
                </a:solidFill>
                <a:latin typeface="Aparajita" panose="02020603050405020304" pitchFamily="18" charset="0"/>
                <a:cs typeface="Aparajita" panose="02020603050405020304" pitchFamily="18" charset="0"/>
              </a:rPr>
            </a:br>
            <a:br>
              <a:rPr lang="en-US" sz="2400" dirty="0">
                <a:solidFill>
                  <a:srgbClr val="7030A0"/>
                </a:solidFill>
                <a:latin typeface="Aparajita" panose="02020603050405020304" pitchFamily="18" charset="0"/>
                <a:cs typeface="Aparajita" panose="02020603050405020304" pitchFamily="18" charset="0"/>
              </a:rPr>
            </a:br>
            <a:r>
              <a:rPr lang="en-US" sz="2400" dirty="0">
                <a:solidFill>
                  <a:srgbClr val="7030A0"/>
                </a:solidFill>
                <a:latin typeface="Aparajita" panose="02020603050405020304" pitchFamily="18" charset="0"/>
                <a:cs typeface="Aparajita" panose="02020603050405020304" pitchFamily="18" charset="0"/>
              </a:rPr>
              <a:t>       </a:t>
            </a:r>
            <a:r>
              <a:rPr lang="en-US" sz="2400" cap="none" dirty="0">
                <a:solidFill>
                  <a:srgbClr val="7030A0"/>
                </a:solidFill>
                <a:latin typeface="Arial" panose="020B0604020202020204" pitchFamily="34" charset="0"/>
              </a:rPr>
              <a:t> </a:t>
            </a:r>
            <a:r>
              <a:rPr lang="en-US" sz="2600" cap="none" dirty="0">
                <a:latin typeface="Aparajita" panose="02020603050405020304" pitchFamily="18" charset="0"/>
                <a:cs typeface="Aparajita" panose="02020603050405020304" pitchFamily="18" charset="0"/>
              </a:rPr>
              <a:t>Data plays a critical role in modern business operations and decision-making. Organizations collect and analyze data to understand market trends, customer preferences, and business opportunities. By using accurate and reliable data, managers can make informed decisions based on facts and analysis rather than assumptions or guesses. This helps organizations reduce risks, improve planning, and achieve better business outcomes.</a:t>
            </a:r>
            <a:br>
              <a:rPr lang="en-US" sz="2400" cap="none" dirty="0">
                <a:latin typeface="Aparajita" panose="02020603050405020304" pitchFamily="18" charset="0"/>
                <a:cs typeface="Aparajita" panose="02020603050405020304" pitchFamily="18" charset="0"/>
              </a:rPr>
            </a:br>
            <a:br>
              <a:rPr lang="en-US" sz="2800" cap="none" dirty="0">
                <a:latin typeface="Aparajita" panose="02020603050405020304" pitchFamily="18" charset="0"/>
                <a:cs typeface="Aparajita" panose="02020603050405020304" pitchFamily="18" charset="0"/>
              </a:rPr>
            </a:br>
            <a:r>
              <a:rPr lang="en-US" sz="2800" cap="none" dirty="0">
                <a:latin typeface="Aparajita" panose="02020603050405020304" pitchFamily="18" charset="0"/>
                <a:cs typeface="Aparajita" panose="02020603050405020304" pitchFamily="18" charset="0"/>
              </a:rPr>
              <a:t>Semi-structured data contains some level of organization but does not follow a fixed tabular format like structured data. It uses tags, labels, or metadata to organize information. Examples of semi-structured data include XML files, JSON documents, and emails. This type of data is more flexible than structured data and is commonly used in web applications and data exchange systems.</a:t>
            </a:r>
            <a:endParaRPr lang="en-US" sz="28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7E1A3096-AAD1-624E-5884-9BB71CAD91F8}"/>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138611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95D30-2070-620F-C15A-FDEDEA707B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C7A51B-1429-8CF7-1707-C9CF4F53BF5A}"/>
              </a:ext>
            </a:extLst>
          </p:cNvPr>
          <p:cNvSpPr>
            <a:spLocks noGrp="1"/>
          </p:cNvSpPr>
          <p:nvPr>
            <p:ph sz="quarter" idx="13"/>
          </p:nvPr>
        </p:nvSpPr>
        <p:spPr>
          <a:xfrm>
            <a:off x="1779493" y="887507"/>
            <a:ext cx="8718178" cy="5208494"/>
          </a:xfrm>
        </p:spPr>
        <p:txBody>
          <a:bodyPr>
            <a:normAutofit fontScale="92500" lnSpcReduction="10000"/>
          </a:bodyPr>
          <a:lstStyle/>
          <a:p>
            <a:pPr marL="0" indent="0" eaLnBrk="0" fontAlgn="base" hangingPunct="0">
              <a:lnSpc>
                <a:spcPct val="100000"/>
              </a:lnSpc>
              <a:spcBef>
                <a:spcPct val="0"/>
              </a:spcBef>
              <a:spcAft>
                <a:spcPct val="0"/>
              </a:spcAft>
              <a:buNone/>
            </a:pPr>
            <a:br>
              <a:rPr lang="en-US" sz="2600" dirty="0">
                <a:solidFill>
                  <a:srgbClr val="7030A0"/>
                </a:solidFill>
                <a:latin typeface="Aparajita" panose="02020603050405020304" pitchFamily="18" charset="0"/>
                <a:cs typeface="Aparajita" panose="02020603050405020304" pitchFamily="18" charset="0"/>
              </a:rPr>
            </a:br>
            <a:r>
              <a:rPr lang="en-US" sz="2600" dirty="0">
                <a:solidFill>
                  <a:srgbClr val="7030A0"/>
                </a:solidFill>
                <a:latin typeface="Aparajita" panose="02020603050405020304" pitchFamily="18" charset="0"/>
                <a:cs typeface="Aparajita" panose="02020603050405020304" pitchFamily="18" charset="0"/>
              </a:rPr>
              <a:t>Structured Data</a:t>
            </a:r>
            <a:br>
              <a:rPr lang="en-US" sz="2600" b="1" dirty="0">
                <a:solidFill>
                  <a:srgbClr val="7030A0"/>
                </a:solidFill>
                <a:latin typeface="Aparajita" panose="02020603050405020304" pitchFamily="18" charset="0"/>
                <a:cs typeface="Aparajita" panose="02020603050405020304" pitchFamily="18" charset="0"/>
              </a:rPr>
            </a:br>
            <a:br>
              <a:rPr lang="en-US" sz="2400" dirty="0">
                <a:solidFill>
                  <a:srgbClr val="7030A0"/>
                </a:solidFill>
                <a:latin typeface="Aparajita" panose="02020603050405020304" pitchFamily="18" charset="0"/>
                <a:cs typeface="Aparajita" panose="02020603050405020304" pitchFamily="18" charset="0"/>
              </a:rPr>
            </a:br>
            <a:r>
              <a:rPr lang="en-US" sz="2400" dirty="0">
                <a:solidFill>
                  <a:srgbClr val="7030A0"/>
                </a:solidFill>
                <a:latin typeface="Aparajita" panose="02020603050405020304" pitchFamily="18" charset="0"/>
                <a:cs typeface="Aparajita" panose="02020603050405020304" pitchFamily="18" charset="0"/>
              </a:rPr>
              <a:t>         </a:t>
            </a:r>
            <a:r>
              <a:rPr lang="en-US" sz="2600" cap="none" dirty="0">
                <a:latin typeface="Aparajita" panose="02020603050405020304" pitchFamily="18" charset="0"/>
                <a:cs typeface="Aparajita" panose="02020603050405020304" pitchFamily="18" charset="0"/>
              </a:rPr>
              <a:t>Structured data is a type of data that is highly organized and stored in a fixed format, usually in the form of rows and columns. It is commonly stored in relational databases such as SQL databases, where each piece of data follows a predefined structure or schema. Because of its organized format, structured data is easy to search, process, store, and analyze using database management systems and software tools.</a:t>
            </a:r>
            <a:br>
              <a:rPr lang="en-US" sz="2400" cap="none" dirty="0">
                <a:latin typeface="Aparajita" panose="02020603050405020304" pitchFamily="18" charset="0"/>
                <a:cs typeface="Aparajita" panose="02020603050405020304" pitchFamily="18" charset="0"/>
              </a:rPr>
            </a:br>
            <a:br>
              <a:rPr lang="en-US" sz="2800" cap="none" dirty="0">
                <a:latin typeface="Aparajita" panose="02020603050405020304" pitchFamily="18" charset="0"/>
                <a:cs typeface="Aparajita" panose="02020603050405020304" pitchFamily="18" charset="0"/>
              </a:rPr>
            </a:br>
            <a:r>
              <a:rPr lang="en-US" sz="2600" cap="none" dirty="0">
                <a:latin typeface="Aparajita" panose="02020603050405020304" pitchFamily="18" charset="0"/>
                <a:cs typeface="Aparajita" panose="02020603050405020304" pitchFamily="18" charset="0"/>
              </a:rPr>
              <a:t>Examples of structured data include bank transaction records, customer details, employee information, sales reports, and inventory lists. In these examples, the data is arranged systematically, making it easy to retrieve and manage. Businesses widely use structured data because it supports efficient reporting, accurate analysis, and better decision-making. Managers can quickly generate reports, identify trends, and monitor business performance using structured data.</a:t>
            </a:r>
            <a:endParaRPr lang="en-US" sz="26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644AE16B-91E1-C77B-58AE-EA34FD21747F}"/>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14</a:t>
            </a:fld>
            <a:endParaRPr lang="en-US" dirty="0"/>
          </a:p>
        </p:txBody>
      </p:sp>
    </p:spTree>
    <p:extLst>
      <p:ext uri="{BB962C8B-B14F-4D97-AF65-F5344CB8AC3E}">
        <p14:creationId xmlns:p14="http://schemas.microsoft.com/office/powerpoint/2010/main" val="3591655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D6E13-9732-F8A8-5403-15B201F1AF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DF5123-A0CD-12F5-9CE8-6CA15943116A}"/>
              </a:ext>
            </a:extLst>
          </p:cNvPr>
          <p:cNvSpPr>
            <a:spLocks noGrp="1"/>
          </p:cNvSpPr>
          <p:nvPr>
            <p:ph sz="quarter" idx="13"/>
          </p:nvPr>
        </p:nvSpPr>
        <p:spPr>
          <a:xfrm>
            <a:off x="1779493" y="887507"/>
            <a:ext cx="8718178" cy="5208494"/>
          </a:xfrm>
        </p:spPr>
        <p:txBody>
          <a:bodyPr>
            <a:normAutofit fontScale="92500" lnSpcReduction="10000"/>
          </a:bodyPr>
          <a:lstStyle/>
          <a:p>
            <a:pPr marL="0" indent="0">
              <a:buNone/>
            </a:pPr>
            <a:br>
              <a:rPr lang="en-US" sz="2600" dirty="0">
                <a:solidFill>
                  <a:srgbClr val="7030A0"/>
                </a:solidFill>
                <a:latin typeface="Aparajita" panose="02020603050405020304" pitchFamily="18" charset="0"/>
                <a:cs typeface="Aparajita" panose="02020603050405020304" pitchFamily="18" charset="0"/>
              </a:rPr>
            </a:br>
            <a:r>
              <a:rPr lang="en-US" sz="2600" dirty="0">
                <a:solidFill>
                  <a:srgbClr val="7030A0"/>
                </a:solidFill>
                <a:latin typeface="Aparajita" panose="02020603050405020304" pitchFamily="18" charset="0"/>
                <a:cs typeface="Aparajita" panose="02020603050405020304" pitchFamily="18" charset="0"/>
              </a:rPr>
              <a:t>Semi-Structured Data</a:t>
            </a:r>
            <a:br>
              <a:rPr lang="en-US" sz="2600" b="1" dirty="0">
                <a:solidFill>
                  <a:srgbClr val="7030A0"/>
                </a:solidFill>
                <a:latin typeface="Aparajita" panose="02020603050405020304" pitchFamily="18" charset="0"/>
                <a:cs typeface="Aparajita" panose="02020603050405020304" pitchFamily="18" charset="0"/>
              </a:rPr>
            </a:br>
            <a:br>
              <a:rPr lang="en-US" sz="2400" dirty="0">
                <a:solidFill>
                  <a:srgbClr val="7030A0"/>
                </a:solidFill>
                <a:latin typeface="Aparajita" panose="02020603050405020304" pitchFamily="18" charset="0"/>
                <a:cs typeface="Aparajita" panose="02020603050405020304" pitchFamily="18" charset="0"/>
              </a:rPr>
            </a:br>
            <a:r>
              <a:rPr lang="en-US" sz="2400" dirty="0">
                <a:solidFill>
                  <a:srgbClr val="7030A0"/>
                </a:solidFill>
                <a:latin typeface="Aparajita" panose="02020603050405020304" pitchFamily="18" charset="0"/>
                <a:cs typeface="Aparajita" panose="02020603050405020304" pitchFamily="18" charset="0"/>
              </a:rPr>
              <a:t>              </a:t>
            </a:r>
            <a:r>
              <a:rPr lang="en-US" sz="2600" cap="none" dirty="0">
                <a:latin typeface="Aparajita" panose="02020603050405020304" pitchFamily="18" charset="0"/>
                <a:cs typeface="Aparajita" panose="02020603050405020304" pitchFamily="18" charset="0"/>
              </a:rPr>
              <a:t>Semi-structured data is a type of data that does not follow a strict tabular structure like structured data, but it still contains some level of organization through tags, labels, or markers. Unlike structured data, semi-structured data does not require a fixed schema, making it more flexible and adaptable for different types of applications. Common examples of semi-structured data include XML files, JSON documents, emails, and web data.</a:t>
            </a:r>
            <a:br>
              <a:rPr lang="en-US" sz="2600" cap="none" dirty="0">
                <a:latin typeface="Aparajita" panose="02020603050405020304" pitchFamily="18" charset="0"/>
                <a:cs typeface="Aparajita" panose="02020603050405020304" pitchFamily="18" charset="0"/>
              </a:rPr>
            </a:br>
            <a:endParaRPr lang="en-US" sz="2600" cap="none" dirty="0">
              <a:latin typeface="Aparajita" panose="02020603050405020304" pitchFamily="18" charset="0"/>
              <a:cs typeface="Aparajita" panose="02020603050405020304" pitchFamily="18" charset="0"/>
            </a:endParaRPr>
          </a:p>
          <a:p>
            <a:pPr marL="0" indent="0">
              <a:buNone/>
            </a:pPr>
            <a:r>
              <a:rPr lang="en-US" sz="2600" cap="none" dirty="0">
                <a:latin typeface="Aparajita" panose="02020603050405020304" pitchFamily="18" charset="0"/>
                <a:cs typeface="Aparajita" panose="02020603050405020304" pitchFamily="18" charset="0"/>
              </a:rPr>
              <a:t>Semi-structured data is widely used in modern web applications, </a:t>
            </a:r>
            <a:r>
              <a:rPr lang="en-US" sz="2600" cap="none" dirty="0" err="1">
                <a:latin typeface="Aparajita" panose="02020603050405020304" pitchFamily="18" charset="0"/>
                <a:cs typeface="Aparajita" panose="02020603050405020304" pitchFamily="18" charset="0"/>
              </a:rPr>
              <a:t>apis</a:t>
            </a:r>
            <a:r>
              <a:rPr lang="en-US" sz="2600" cap="none" dirty="0">
                <a:latin typeface="Aparajita" panose="02020603050405020304" pitchFamily="18" charset="0"/>
                <a:cs typeface="Aparajita" panose="02020603050405020304" pitchFamily="18" charset="0"/>
              </a:rPr>
              <a:t>, cloud computing systems, and data exchange platforms because it allows easy sharing and transfer of information between different systems. The tags and metadata used in semi-structured data help identify and organize information, making it easier to understand and process compared to completely unstructured data. One of the major advantages of semi-structured data is its flexibility. Organizations can store and modify data without changing an entire database structure. </a:t>
            </a:r>
          </a:p>
          <a:p>
            <a:pPr marL="0" indent="0" eaLnBrk="0" fontAlgn="base" hangingPunct="0">
              <a:lnSpc>
                <a:spcPct val="100000"/>
              </a:lnSpc>
              <a:spcBef>
                <a:spcPct val="0"/>
              </a:spcBef>
              <a:spcAft>
                <a:spcPct val="0"/>
              </a:spcAft>
              <a:buNone/>
            </a:pPr>
            <a:endParaRPr lang="en-US" sz="26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2C8E6BCC-F250-E3F1-6D81-0AE7B5541BB3}"/>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15</a:t>
            </a:fld>
            <a:endParaRPr lang="en-US" dirty="0"/>
          </a:p>
        </p:txBody>
      </p:sp>
    </p:spTree>
    <p:extLst>
      <p:ext uri="{BB962C8B-B14F-4D97-AF65-F5344CB8AC3E}">
        <p14:creationId xmlns:p14="http://schemas.microsoft.com/office/powerpoint/2010/main" val="1641701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097B0-DCDF-E259-92D4-5DCED0812C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7B518C-1D78-F30E-73BC-2D5029629623}"/>
              </a:ext>
            </a:extLst>
          </p:cNvPr>
          <p:cNvSpPr>
            <a:spLocks noGrp="1"/>
          </p:cNvSpPr>
          <p:nvPr>
            <p:ph sz="quarter" idx="13"/>
          </p:nvPr>
        </p:nvSpPr>
        <p:spPr>
          <a:xfrm>
            <a:off x="1779493" y="887507"/>
            <a:ext cx="8718178" cy="5208494"/>
          </a:xfrm>
        </p:spPr>
        <p:txBody>
          <a:bodyPr>
            <a:normAutofit fontScale="92500" lnSpcReduction="10000"/>
          </a:bodyPr>
          <a:lstStyle/>
          <a:p>
            <a:pPr marL="0" indent="0">
              <a:buNone/>
            </a:pPr>
            <a:br>
              <a:rPr lang="en-US" sz="2600" dirty="0">
                <a:solidFill>
                  <a:srgbClr val="7030A0"/>
                </a:solidFill>
                <a:latin typeface="Aparajita" panose="02020603050405020304" pitchFamily="18" charset="0"/>
                <a:cs typeface="Aparajita" panose="02020603050405020304" pitchFamily="18" charset="0"/>
              </a:rPr>
            </a:br>
            <a:r>
              <a:rPr lang="en-US" sz="2600" dirty="0">
                <a:solidFill>
                  <a:srgbClr val="7030A0"/>
                </a:solidFill>
                <a:latin typeface="Aparajita" panose="02020603050405020304" pitchFamily="18" charset="0"/>
                <a:cs typeface="Aparajita" panose="02020603050405020304" pitchFamily="18" charset="0"/>
              </a:rPr>
              <a:t>Unstructured Data</a:t>
            </a:r>
            <a:br>
              <a:rPr lang="en-US" sz="2600" dirty="0">
                <a:solidFill>
                  <a:srgbClr val="7030A0"/>
                </a:solidFill>
                <a:latin typeface="Aparajita" panose="02020603050405020304" pitchFamily="18" charset="0"/>
                <a:cs typeface="Aparajita" panose="02020603050405020304" pitchFamily="18" charset="0"/>
              </a:rPr>
            </a:br>
            <a:br>
              <a:rPr lang="en-US" sz="2600" b="1" dirty="0">
                <a:solidFill>
                  <a:srgbClr val="7030A0"/>
                </a:solidFill>
                <a:latin typeface="Aparajita" panose="02020603050405020304" pitchFamily="18" charset="0"/>
                <a:cs typeface="Aparajita" panose="02020603050405020304" pitchFamily="18" charset="0"/>
              </a:rPr>
            </a:br>
            <a:r>
              <a:rPr lang="en-US" sz="2600" b="1" dirty="0">
                <a:solidFill>
                  <a:srgbClr val="7030A0"/>
                </a:solidFill>
                <a:latin typeface="Aparajita" panose="02020603050405020304" pitchFamily="18" charset="0"/>
                <a:cs typeface="Aparajita" panose="02020603050405020304" pitchFamily="18" charset="0"/>
              </a:rPr>
              <a:t>             </a:t>
            </a:r>
            <a:r>
              <a:rPr lang="en-US" sz="2600" cap="none" dirty="0">
                <a:latin typeface="Aparajita" panose="02020603050405020304" pitchFamily="18" charset="0"/>
                <a:cs typeface="Aparajita" panose="02020603050405020304" pitchFamily="18" charset="0"/>
              </a:rPr>
              <a:t>Unstructured data is a type of data that does not have a predefined format, organization, or fixed structure. Unlike structured and semi-structured data, it cannot be easily stored in rows and columns within traditional databases. Unstructured data includes information such as images, videos, social media posts, emails, audio files, text documents, and multimedia content. This type of data is generated in large quantities every day through digital platforms, websites, mobile applications, and online communication systems.</a:t>
            </a:r>
            <a:br>
              <a:rPr lang="en-US" sz="2400" cap="none" dirty="0">
                <a:latin typeface="Aparajita" panose="02020603050405020304" pitchFamily="18" charset="0"/>
                <a:cs typeface="Aparajita" panose="02020603050405020304" pitchFamily="18" charset="0"/>
              </a:rPr>
            </a:br>
            <a:endParaRPr lang="en-US" sz="2400" cap="none" dirty="0">
              <a:latin typeface="Aparajita" panose="02020603050405020304" pitchFamily="18" charset="0"/>
              <a:cs typeface="Aparajita" panose="02020603050405020304" pitchFamily="18" charset="0"/>
            </a:endParaRPr>
          </a:p>
          <a:p>
            <a:pPr marL="0" indent="0">
              <a:buNone/>
            </a:pPr>
            <a:r>
              <a:rPr lang="en-US" sz="2600" cap="none" dirty="0">
                <a:latin typeface="Aparajita" panose="02020603050405020304" pitchFamily="18" charset="0"/>
                <a:cs typeface="Aparajita" panose="02020603050405020304" pitchFamily="18" charset="0"/>
              </a:rPr>
              <a:t>One of the main challenges of unstructured data is that it is difficult to process, search, and analyze using traditional database management systems. Since the data does not follow a specific format, organizations require advanced tools and technologies to extract useful information from it. However, unstructured data contains valuable insights that can help businesses understand customer behavior, market trends, customer opinions, and business performance.</a:t>
            </a:r>
          </a:p>
          <a:p>
            <a:pPr marL="0" indent="0" eaLnBrk="0" fontAlgn="base" hangingPunct="0">
              <a:lnSpc>
                <a:spcPct val="100000"/>
              </a:lnSpc>
              <a:spcBef>
                <a:spcPct val="0"/>
              </a:spcBef>
              <a:spcAft>
                <a:spcPct val="0"/>
              </a:spcAft>
              <a:buNone/>
            </a:pPr>
            <a:endParaRPr lang="en-US" sz="26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9A5E0B44-936A-9E28-EEE8-8338D9938EC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16</a:t>
            </a:fld>
            <a:endParaRPr lang="en-US" dirty="0"/>
          </a:p>
        </p:txBody>
      </p:sp>
    </p:spTree>
    <p:extLst>
      <p:ext uri="{BB962C8B-B14F-4D97-AF65-F5344CB8AC3E}">
        <p14:creationId xmlns:p14="http://schemas.microsoft.com/office/powerpoint/2010/main" val="3727016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96FE5-38A2-B97E-55D0-743FE2A9CE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19331F-9960-A277-ACEA-39B4AD8263E1}"/>
              </a:ext>
            </a:extLst>
          </p:cNvPr>
          <p:cNvSpPr>
            <a:spLocks noGrp="1"/>
          </p:cNvSpPr>
          <p:nvPr>
            <p:ph sz="quarter" idx="13"/>
          </p:nvPr>
        </p:nvSpPr>
        <p:spPr>
          <a:xfrm>
            <a:off x="1779493" y="887507"/>
            <a:ext cx="8673354" cy="4992297"/>
          </a:xfrm>
        </p:spPr>
        <p:txBody>
          <a:bodyPr>
            <a:normAutofit fontScale="92500" lnSpcReduction="20000"/>
          </a:bodyPr>
          <a:lstStyle/>
          <a:p>
            <a:pPr marL="0" indent="0">
              <a:buNone/>
            </a:pPr>
            <a:br>
              <a:rPr lang="en-US" sz="2600" dirty="0">
                <a:solidFill>
                  <a:srgbClr val="7030A0"/>
                </a:solidFill>
                <a:latin typeface="Aparajita" panose="02020603050405020304" pitchFamily="18" charset="0"/>
                <a:cs typeface="Aparajita" panose="02020603050405020304" pitchFamily="18" charset="0"/>
              </a:rPr>
            </a:br>
            <a:r>
              <a:rPr lang="en-US" sz="2600" dirty="0">
                <a:solidFill>
                  <a:srgbClr val="7030A0"/>
                </a:solidFill>
                <a:latin typeface="Aparajita" panose="02020603050405020304" pitchFamily="18" charset="0"/>
                <a:cs typeface="Aparajita" panose="02020603050405020304" pitchFamily="18" charset="0"/>
              </a:rPr>
              <a:t>Comparison of Data Types</a:t>
            </a:r>
            <a:br>
              <a:rPr lang="en-US" sz="26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2600" b="1" cap="none" dirty="0">
                <a:solidFill>
                  <a:srgbClr val="7030A0"/>
                </a:solidFill>
                <a:latin typeface="Aparajita" panose="02020603050405020304" pitchFamily="18" charset="0"/>
                <a:cs typeface="Aparajita" panose="02020603050405020304" pitchFamily="18" charset="0"/>
              </a:rPr>
              <a:t>            </a:t>
            </a:r>
            <a:r>
              <a:rPr lang="en-US" sz="2600" cap="none" dirty="0">
                <a:latin typeface="Aparajita" panose="02020603050405020304" pitchFamily="18" charset="0"/>
                <a:cs typeface="Aparajita" panose="02020603050405020304" pitchFamily="18" charset="0"/>
              </a:rPr>
              <a:t>Structured, semi-structured, and unstructured data differ in terms of organization, flexibility, and ease of analysis. Structured data is highly organized and stored in fixed formats such as rows and columns in relational databases. It is easy to manage, search, and analyze using traditional database systems, but it offers limited flexibility because it requires a predefined schema.</a:t>
            </a:r>
            <a:br>
              <a:rPr lang="en-US" sz="2600" cap="none" dirty="0">
                <a:latin typeface="Aparajita" panose="02020603050405020304" pitchFamily="18" charset="0"/>
                <a:cs typeface="Aparajita" panose="02020603050405020304" pitchFamily="18" charset="0"/>
              </a:rPr>
            </a:br>
            <a:endParaRPr lang="en-US" sz="2600" cap="none" dirty="0">
              <a:latin typeface="Aparajita" panose="02020603050405020304" pitchFamily="18" charset="0"/>
              <a:cs typeface="Aparajita" panose="02020603050405020304" pitchFamily="18" charset="0"/>
            </a:endParaRPr>
          </a:p>
          <a:p>
            <a:pPr marL="0" indent="0">
              <a:buNone/>
            </a:pPr>
            <a:r>
              <a:rPr lang="en-US" sz="2600" cap="none" dirty="0">
                <a:latin typeface="Aparajita" panose="02020603050405020304" pitchFamily="18" charset="0"/>
                <a:cs typeface="Aparajita" panose="02020603050405020304" pitchFamily="18" charset="0"/>
              </a:rPr>
              <a:t>Semi-structured data provides a balance between organization and flexibility. It does not follow a strict tabular format but still contains tags, labels, or metadata that help organize the information. Examples include XML files, JSON documents, and emails.</a:t>
            </a:r>
            <a:br>
              <a:rPr lang="en-US" sz="2600" cap="none" dirty="0">
                <a:latin typeface="Aparajita" panose="02020603050405020304" pitchFamily="18" charset="0"/>
                <a:cs typeface="Aparajita" panose="02020603050405020304" pitchFamily="18" charset="0"/>
              </a:rPr>
            </a:br>
            <a:endParaRPr lang="en-US" sz="2600" cap="none" dirty="0">
              <a:latin typeface="Aparajita" panose="02020603050405020304" pitchFamily="18" charset="0"/>
              <a:cs typeface="Aparajita" panose="02020603050405020304" pitchFamily="18" charset="0"/>
            </a:endParaRPr>
          </a:p>
          <a:p>
            <a:pPr marL="0" indent="0" eaLnBrk="0" fontAlgn="base" hangingPunct="0">
              <a:lnSpc>
                <a:spcPct val="100000"/>
              </a:lnSpc>
              <a:spcBef>
                <a:spcPct val="0"/>
              </a:spcBef>
              <a:spcAft>
                <a:spcPct val="0"/>
              </a:spcAft>
              <a:buNone/>
            </a:pPr>
            <a:r>
              <a:rPr lang="en-US" sz="2600" cap="none" dirty="0">
                <a:latin typeface="Aparajita" panose="02020603050405020304" pitchFamily="18" charset="0"/>
                <a:cs typeface="Aparajita" panose="02020603050405020304" pitchFamily="18" charset="0"/>
              </a:rPr>
              <a:t>Unstructured data has no predefined format or structure and includes images, videos, audio files, social media posts, and text documents.</a:t>
            </a:r>
            <a:r>
              <a:rPr lang="en-US" sz="2600" dirty="0"/>
              <a:t> </a:t>
            </a:r>
            <a:r>
              <a:rPr lang="en-US" sz="2600" cap="none" dirty="0">
                <a:latin typeface="Aparajita" panose="02020603050405020304" pitchFamily="18" charset="0"/>
                <a:cs typeface="Aparajita" panose="02020603050405020304" pitchFamily="18" charset="0"/>
              </a:rPr>
              <a:t>It is highly flexible and contains rich and valuable information, but it is difficult to process and analyze using traditional tools.</a:t>
            </a:r>
            <a:endParaRPr lang="en-US" sz="2600" cap="none"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BCAB0798-9D9A-F0C6-32BA-4708413180F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val="3212727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360DD-050F-59E8-09EC-31D5FCAEA6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683967-CB11-FF59-9C98-93C9602F5834}"/>
              </a:ext>
            </a:extLst>
          </p:cNvPr>
          <p:cNvSpPr>
            <a:spLocks noGrp="1"/>
          </p:cNvSpPr>
          <p:nvPr>
            <p:ph sz="quarter" idx="13"/>
          </p:nvPr>
        </p:nvSpPr>
        <p:spPr>
          <a:xfrm>
            <a:off x="1779493" y="887507"/>
            <a:ext cx="8673354" cy="4992297"/>
          </a:xfrm>
        </p:spPr>
        <p:txBody>
          <a:bodyPr>
            <a:normAutofit fontScale="40000" lnSpcReduction="20000"/>
          </a:bodyPr>
          <a:lstStyle/>
          <a:p>
            <a:pPr marL="0" indent="0">
              <a:buNone/>
            </a:pPr>
            <a:br>
              <a:rPr lang="en-US" sz="4400"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SOURCES OF DATA</a:t>
            </a: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3800" b="1" cap="none" dirty="0">
                <a:solidFill>
                  <a:srgbClr val="7030A0"/>
                </a:solidFill>
                <a:latin typeface="Aparajita" panose="02020603050405020304" pitchFamily="18" charset="0"/>
                <a:cs typeface="Aparajita" panose="02020603050405020304" pitchFamily="18" charset="0"/>
              </a:rPr>
              <a:t>            </a:t>
            </a:r>
            <a:r>
              <a:rPr lang="en-US" sz="6000" cap="none" dirty="0" err="1">
                <a:latin typeface="Aparajita" panose="02020603050405020304" pitchFamily="18" charset="0"/>
                <a:cs typeface="Aparajita" panose="02020603050405020304" pitchFamily="18" charset="0"/>
              </a:rPr>
              <a:t>Data</a:t>
            </a:r>
            <a:r>
              <a:rPr lang="en-US" sz="6000" cap="none" dirty="0">
                <a:latin typeface="Aparajita" panose="02020603050405020304" pitchFamily="18" charset="0"/>
                <a:cs typeface="Aparajita" panose="02020603050405020304" pitchFamily="18" charset="0"/>
              </a:rPr>
              <a:t> can be collected from a variety of internal and external sources. Internal sources of data are generated within an organization and include company databases, ERP systems, sales records, customer information, financial reports, and employee records. This type of data helps organizations monitor business operations, measure performance, and support decision-making processes.</a:t>
            </a:r>
            <a:br>
              <a:rPr lang="en-US" sz="6000" cap="none" dirty="0">
                <a:latin typeface="Aparajita" panose="02020603050405020304" pitchFamily="18" charset="0"/>
                <a:cs typeface="Aparajita" panose="02020603050405020304" pitchFamily="18" charset="0"/>
              </a:rPr>
            </a:br>
            <a:endParaRPr lang="en-US" sz="6000" cap="none" dirty="0">
              <a:latin typeface="Aparajita" panose="02020603050405020304" pitchFamily="18" charset="0"/>
              <a:cs typeface="Aparajita" panose="02020603050405020304" pitchFamily="18" charset="0"/>
            </a:endParaRPr>
          </a:p>
          <a:p>
            <a:pPr marL="0" indent="0">
              <a:buNone/>
            </a:pPr>
            <a:r>
              <a:rPr lang="en-US" sz="6000" cap="none" dirty="0">
                <a:latin typeface="Aparajita" panose="02020603050405020304" pitchFamily="18" charset="0"/>
                <a:cs typeface="Aparajita" panose="02020603050405020304" pitchFamily="18" charset="0"/>
              </a:rPr>
              <a:t>External sources of data come from outside the organization and include social media platforms, market research reports, government publications, competitor analysis, websites, and online surveys. Businesses use external data to understand market trends, customer preferences, industry developments, and competitor activities. External data helps organizations identify new opportunities and improve business strategies.</a:t>
            </a:r>
            <a:br>
              <a:rPr lang="en-US" sz="4400" cap="none" dirty="0">
                <a:latin typeface="Aparajita" panose="02020603050405020304" pitchFamily="18" charset="0"/>
                <a:cs typeface="Aparajita" panose="02020603050405020304" pitchFamily="18" charset="0"/>
              </a:rPr>
            </a:br>
            <a:endParaRPr lang="en-US" sz="4400" cap="none" dirty="0">
              <a:latin typeface="Aparajita" panose="02020603050405020304" pitchFamily="18" charset="0"/>
              <a:cs typeface="Aparajita" panose="02020603050405020304" pitchFamily="18" charset="0"/>
            </a:endParaRPr>
          </a:p>
          <a:p>
            <a:pPr marL="0" indent="0">
              <a:buNone/>
            </a:pPr>
            <a:r>
              <a:rPr lang="en-US" sz="6000" cap="none" dirty="0">
                <a:latin typeface="Aparajita" panose="02020603050405020304" pitchFamily="18" charset="0"/>
                <a:cs typeface="Aparajita" panose="02020603050405020304" pitchFamily="18" charset="0"/>
              </a:rPr>
              <a:t>In today’s digital environment, data is also generated through Internet of things (IOT) devices, sensors, mobile applications, and online transactions. </a:t>
            </a:r>
          </a:p>
        </p:txBody>
      </p:sp>
      <p:sp>
        <p:nvSpPr>
          <p:cNvPr id="4" name="Slide Number Placeholder 3">
            <a:extLst>
              <a:ext uri="{FF2B5EF4-FFF2-40B4-BE49-F238E27FC236}">
                <a16:creationId xmlns:a16="http://schemas.microsoft.com/office/drawing/2014/main" id="{8EACDCE0-1C7D-E1C2-50F2-0607CC7CCDC7}"/>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3757832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C7F99-5D6F-835E-5EFF-B8D9DBE590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34C37A-A788-E1D1-1632-365F6D7E0A93}"/>
              </a:ext>
            </a:extLst>
          </p:cNvPr>
          <p:cNvSpPr>
            <a:spLocks noGrp="1"/>
          </p:cNvSpPr>
          <p:nvPr>
            <p:ph sz="quarter" idx="13"/>
          </p:nvPr>
        </p:nvSpPr>
        <p:spPr>
          <a:xfrm>
            <a:off x="1779493" y="887507"/>
            <a:ext cx="8673354" cy="4992297"/>
          </a:xfrm>
        </p:spPr>
        <p:txBody>
          <a:bodyPr>
            <a:normAutofit fontScale="47500" lnSpcReduction="20000"/>
          </a:bodyPr>
          <a:lstStyle/>
          <a:p>
            <a:pPr marL="0" indent="0">
              <a:buNone/>
            </a:pPr>
            <a:br>
              <a:rPr lang="en-US" sz="6000"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SOURCES OF DATA</a:t>
            </a: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r>
              <a:rPr lang="en-US" sz="5100" cap="none" dirty="0">
                <a:latin typeface="Aparajita" panose="02020603050405020304" pitchFamily="18" charset="0"/>
                <a:cs typeface="Aparajita" panose="02020603050405020304" pitchFamily="18" charset="0"/>
              </a:rPr>
              <a:t>Organizations use different methods to collect data for analysis, decision-making, and business operations. Traditional data collection methods include surveys, interviews, questionnaires, and observations. Surveys and questionnaires are commonly used to gather information from customers, employees, or the public, while interviews and observations help organizations collect detailed and qualitative information. These methods are useful for understanding opinions, behaviors, and experiences.</a:t>
            </a:r>
            <a:br>
              <a:rPr lang="en-US" sz="5100" cap="none" dirty="0">
                <a:latin typeface="Aparajita" panose="02020603050405020304" pitchFamily="18" charset="0"/>
                <a:cs typeface="Aparajita" panose="02020603050405020304" pitchFamily="18" charset="0"/>
              </a:rPr>
            </a:br>
            <a:endParaRPr lang="en-US" sz="5100" cap="none" dirty="0">
              <a:latin typeface="Aparajita" panose="02020603050405020304" pitchFamily="18" charset="0"/>
              <a:cs typeface="Aparajita" panose="02020603050405020304" pitchFamily="18" charset="0"/>
            </a:endParaRPr>
          </a:p>
          <a:p>
            <a:pPr marL="0" indent="0">
              <a:buNone/>
            </a:pPr>
            <a:r>
              <a:rPr lang="en-US" sz="5100" cap="none" dirty="0">
                <a:latin typeface="Aparajita" panose="02020603050405020304" pitchFamily="18" charset="0"/>
                <a:cs typeface="Aparajita" panose="02020603050405020304" pitchFamily="18" charset="0"/>
              </a:rPr>
              <a:t>Modern organizations also use advanced digital methods for data collection. These include automated systems, web scraping, </a:t>
            </a:r>
            <a:r>
              <a:rPr lang="en-US" sz="5100" cap="none" dirty="0" err="1">
                <a:latin typeface="Aparajita" panose="02020603050405020304" pitchFamily="18" charset="0"/>
                <a:cs typeface="Aparajita" panose="02020603050405020304" pitchFamily="18" charset="0"/>
              </a:rPr>
              <a:t>apis</a:t>
            </a:r>
            <a:r>
              <a:rPr lang="en-US" sz="5100" cap="none" dirty="0">
                <a:latin typeface="Aparajita" panose="02020603050405020304" pitchFamily="18" charset="0"/>
                <a:cs typeface="Aparajita" panose="02020603050405020304" pitchFamily="18" charset="0"/>
              </a:rPr>
              <a:t>, mobile applications, online forms, and sensor-based data collection. Businesses collect data from websites, social media platforms, online transactions, and </a:t>
            </a:r>
            <a:r>
              <a:rPr lang="en-US" sz="5100" cap="none" dirty="0" err="1">
                <a:latin typeface="Aparajita" panose="02020603050405020304" pitchFamily="18" charset="0"/>
                <a:cs typeface="Aparajita" panose="02020603050405020304" pitchFamily="18" charset="0"/>
              </a:rPr>
              <a:t>iot</a:t>
            </a:r>
            <a:r>
              <a:rPr lang="en-US" sz="5100" cap="none" dirty="0">
                <a:latin typeface="Aparajita" panose="02020603050405020304" pitchFamily="18" charset="0"/>
                <a:cs typeface="Aparajita" panose="02020603050405020304" pitchFamily="18" charset="0"/>
              </a:rPr>
              <a:t> devices to gain real-time insights. Automated systems can collect and process large amounts of data quickly and efficiently, reducing manual effort and improving accuracy.</a:t>
            </a:r>
          </a:p>
          <a:p>
            <a:pPr marL="0" indent="0">
              <a:buNone/>
            </a:pP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4928AE78-9EF4-2BED-83D2-F1A7494EB65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3607264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2F4EC-CAB2-0738-B03E-2617EA35AD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C5BE1E-5B7E-D2E4-B040-69A877C7ACC8}"/>
              </a:ext>
            </a:extLst>
          </p:cNvPr>
          <p:cNvSpPr>
            <a:spLocks noGrp="1"/>
          </p:cNvSpPr>
          <p:nvPr>
            <p:ph sz="quarter" idx="13"/>
          </p:nvPr>
        </p:nvSpPr>
        <p:spPr>
          <a:xfrm>
            <a:off x="1869140" y="734063"/>
            <a:ext cx="8673354" cy="5145741"/>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Data Lifecycle</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The data lifecycle refers to the different stages through which data passes during its existence within an organization. These stages include data creation, storage, processing, usage, sharing, archiving, and deletion. Proper management of the data lifecycle is important because it helps organizations maintain data quality, security, accuracy, and compliance with legal and organizational regulations.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The lifecycle begins with data creation or collection, where information is generated through transactions, surveys, websites, sensors, or other sources. After collection, the data is stored in databases, cloud systems, or storage devices so that it can be accessed when </a:t>
            </a:r>
            <a:r>
              <a:rPr lang="en-US" sz="9600" cap="none" dirty="0" err="1">
                <a:latin typeface="Aparajita" panose="02020603050405020304" pitchFamily="18" charset="0"/>
                <a:cs typeface="Aparajita" panose="02020603050405020304" pitchFamily="18" charset="0"/>
              </a:rPr>
              <a:t>needed.The</a:t>
            </a:r>
            <a:r>
              <a:rPr lang="en-US" sz="9600" cap="none" dirty="0">
                <a:latin typeface="Aparajita" panose="02020603050405020304" pitchFamily="18" charset="0"/>
                <a:cs typeface="Aparajita" panose="02020603050405020304" pitchFamily="18" charset="0"/>
              </a:rPr>
              <a:t> next stage is data processing, where raw data is organized, analyzed, and converted into meaningful information for business operations and decision-</a:t>
            </a:r>
            <a:r>
              <a:rPr lang="en-US" sz="9600" cap="none" dirty="0" err="1">
                <a:latin typeface="Aparajita" panose="02020603050405020304" pitchFamily="18" charset="0"/>
                <a:cs typeface="Aparajita" panose="02020603050405020304" pitchFamily="18" charset="0"/>
              </a:rPr>
              <a:t>making.Once</a:t>
            </a:r>
            <a:r>
              <a:rPr lang="en-US" sz="9600" cap="none" dirty="0">
                <a:latin typeface="Aparajita" panose="02020603050405020304" pitchFamily="18" charset="0"/>
                <a:cs typeface="Aparajita" panose="02020603050405020304" pitchFamily="18" charset="0"/>
              </a:rPr>
              <a:t> processed, the data is used and shared among employees, departments, or external systems to support business activities. Over time, some data may become outdated or less frequently used. Such data is moved to archives for long-term storage while still remaining accessible if needed in the future.</a:t>
            </a:r>
            <a:endParaRPr lang="en-US" sz="9600" b="1" cap="none" dirty="0">
              <a:solidFill>
                <a:srgbClr val="7030A0"/>
              </a:solidFill>
              <a:latin typeface="Aparajita" panose="02020603050405020304" pitchFamily="18" charset="0"/>
              <a:cs typeface="Aparajita" panose="02020603050405020304" pitchFamily="18" charset="0"/>
            </a:endParaRPr>
          </a:p>
          <a:p>
            <a:pPr marL="0" indent="0">
              <a:buNone/>
            </a:pP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EEC56C3E-4687-7D6F-9645-45CB4756B763}"/>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1760501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72841-A869-6FFE-DF80-D97E5AE7A5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2B2962-21ED-D9FD-61C8-7289A830EFAE}"/>
              </a:ext>
            </a:extLst>
          </p:cNvPr>
          <p:cNvSpPr>
            <a:spLocks noGrp="1"/>
          </p:cNvSpPr>
          <p:nvPr>
            <p:ph sz="quarter" idx="13"/>
          </p:nvPr>
        </p:nvSpPr>
        <p:spPr>
          <a:xfrm>
            <a:off x="1869140" y="734063"/>
            <a:ext cx="8673354" cy="5370902"/>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Data Quality and Data Integrity</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b="1"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quality refers to the accuracy, completeness, consistency, reliability, and relevance of data used by an organization. High-quality data is essential because businesses depend on accurate information for analysis, reporting, and decision-making. If the data is incomplete, outdated, or incorrect, it can lead to wrong conclusions and poor business decisions. Good data quality helps organizations improve operational efficiency, customer service, forecasting, and overall business performance.</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Data integrity refers to maintaining the correctness, consistency, and reliability of data throughout its lifecycle. It ensures that data remains unchanged, accurate, and secure during storage, processing, transfer, and usage. Data integrity is important because organizations must be able to trust the information stored in their systems. Any unauthorized modification, corruption, or loss of data can negatively affect business operations and decision-making. Poor data quality or lack of data integrity can create serious problems for organizations, including financial losses, operational inefficiencies, security risks, and reduced customer trust. </a:t>
            </a:r>
          </a:p>
          <a:p>
            <a:pPr marL="0" indent="0">
              <a:buNone/>
            </a:pP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AB1A75E4-A19B-B105-8FAA-FCB6D9760FA2}"/>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21</a:t>
            </a:fld>
            <a:endParaRPr lang="en-US" dirty="0"/>
          </a:p>
        </p:txBody>
      </p:sp>
    </p:spTree>
    <p:extLst>
      <p:ext uri="{BB962C8B-B14F-4D97-AF65-F5344CB8AC3E}">
        <p14:creationId xmlns:p14="http://schemas.microsoft.com/office/powerpoint/2010/main" val="513797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636E1-68C6-F41F-1D25-2AEA8B13309D}"/>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2CD25F27-437C-6A3D-DB1D-17A57996D124}"/>
              </a:ext>
            </a:extLst>
          </p:cNvPr>
          <p:cNvSpPr>
            <a:spLocks noGrp="1"/>
          </p:cNvSpPr>
          <p:nvPr>
            <p:ph type="title"/>
          </p:nvPr>
        </p:nvSpPr>
        <p:spPr>
          <a:xfrm>
            <a:off x="2599764" y="376518"/>
            <a:ext cx="7512424" cy="528918"/>
          </a:xfrm>
        </p:spPr>
        <p:txBody>
          <a:bodyPr/>
          <a:lstStyle/>
          <a:p>
            <a:r>
              <a:rPr lang="en-US" dirty="0">
                <a:solidFill>
                  <a:schemeClr val="accent2"/>
                </a:solidFill>
                <a:latin typeface="Aparajita" panose="02020603050405020304" pitchFamily="18" charset="0"/>
                <a:cs typeface="Aparajita" panose="02020603050405020304" pitchFamily="18" charset="0"/>
              </a:rPr>
              <a:t>INTRODUCTION TO BUSINESS ANALYST  ROLE</a:t>
            </a:r>
          </a:p>
        </p:txBody>
      </p:sp>
      <p:sp>
        <p:nvSpPr>
          <p:cNvPr id="3" name="Content Placeholder 2">
            <a:extLst>
              <a:ext uri="{FF2B5EF4-FFF2-40B4-BE49-F238E27FC236}">
                <a16:creationId xmlns:a16="http://schemas.microsoft.com/office/drawing/2014/main" id="{D5610A91-F01C-DC51-1F5B-EA8B4D2EC874}"/>
              </a:ext>
            </a:extLst>
          </p:cNvPr>
          <p:cNvSpPr>
            <a:spLocks noGrp="1"/>
          </p:cNvSpPr>
          <p:nvPr>
            <p:ph sz="quarter" idx="13"/>
          </p:nvPr>
        </p:nvSpPr>
        <p:spPr>
          <a:xfrm>
            <a:off x="1779493" y="1096486"/>
            <a:ext cx="8789895" cy="5313279"/>
          </a:xfrm>
        </p:spPr>
        <p:txBody>
          <a:bodyPr>
            <a:normAutofit fontScale="40000" lnSpcReduction="20000"/>
          </a:bodyPr>
          <a:lstStyle/>
          <a:p>
            <a:pPr marL="0" indent="0">
              <a:buNone/>
            </a:pPr>
            <a:br>
              <a:rPr lang="en-US" sz="3100"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Introduction to business analyst</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6000" cap="none" dirty="0">
                <a:latin typeface="Aparajita" panose="02020603050405020304" pitchFamily="18" charset="0"/>
                <a:cs typeface="Aparajita" panose="02020603050405020304" pitchFamily="18" charset="0"/>
              </a:rPr>
              <a:t>Business analyst (BA) is a professional who acts as a link between business requirements and technology solutions within an organization. The primary role of a business analyst is to understand business problems, gather and analyze requirements, and recommend effective solutions that improve organizational performance and efficiency. Business analysts work closely with stakeholders, managers, customers, and technical teams to ensure that business objectives are clearly understood and successfully achieved.</a:t>
            </a:r>
          </a:p>
          <a:p>
            <a:pPr marL="0" indent="0">
              <a:buNone/>
            </a:pPr>
            <a:br>
              <a:rPr lang="en-US" sz="6000" cap="none" dirty="0">
                <a:latin typeface="Aparajita" panose="02020603050405020304" pitchFamily="18" charset="0"/>
                <a:cs typeface="Aparajita" panose="02020603050405020304" pitchFamily="18" charset="0"/>
              </a:rPr>
            </a:br>
            <a:r>
              <a:rPr lang="en-US" sz="6000" cap="none" dirty="0">
                <a:latin typeface="Aparajita" panose="02020603050405020304" pitchFamily="18" charset="0"/>
                <a:cs typeface="Aparajita" panose="02020603050405020304" pitchFamily="18" charset="0"/>
              </a:rPr>
              <a:t>Business analysts play an important role in identifying opportunities for improvement in business processes, systems, and operations. They analyze business data, evaluate existing processes, and help organizations implement strategies and technologies that support growth and productivity. By understanding both business and technical aspects, business analysts help organizations make informed decisions and solve complex business challenges.</a:t>
            </a:r>
            <a:br>
              <a:rPr lang="en-US" sz="6000" cap="none" dirty="0">
                <a:latin typeface="Aparajita" panose="02020603050405020304" pitchFamily="18" charset="0"/>
                <a:cs typeface="Aparajita" panose="02020603050405020304" pitchFamily="18" charset="0"/>
              </a:rPr>
            </a:br>
            <a:br>
              <a:rPr lang="en-US" sz="6000" cap="none" dirty="0">
                <a:latin typeface="Aparajita" panose="02020603050405020304" pitchFamily="18" charset="0"/>
                <a:cs typeface="Aparajita" panose="02020603050405020304" pitchFamily="18" charset="0"/>
              </a:rPr>
            </a:br>
            <a:r>
              <a:rPr lang="en-US" sz="6000" cap="none" dirty="0">
                <a:latin typeface="Aparajita" panose="02020603050405020304" pitchFamily="18" charset="0"/>
                <a:cs typeface="Aparajita" panose="02020603050405020304" pitchFamily="18" charset="0"/>
              </a:rPr>
              <a:t>The role of a business analyst has become increasingly important due to rapid technological changes and evolving market demands. </a:t>
            </a:r>
            <a:endParaRPr lang="en-US" sz="26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B0BAA0A5-5663-54BE-5C90-808DF035B1EF}"/>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22</a:t>
            </a:fld>
            <a:endParaRPr lang="en-US" dirty="0"/>
          </a:p>
        </p:txBody>
      </p:sp>
    </p:spTree>
    <p:extLst>
      <p:ext uri="{BB962C8B-B14F-4D97-AF65-F5344CB8AC3E}">
        <p14:creationId xmlns:p14="http://schemas.microsoft.com/office/powerpoint/2010/main" val="3186970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D08A4-5A9B-96E9-3D5C-948A9D2B98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BF61E-E161-A51F-66EB-58F15E38E475}"/>
              </a:ext>
            </a:extLst>
          </p:cNvPr>
          <p:cNvSpPr>
            <a:spLocks noGrp="1"/>
          </p:cNvSpPr>
          <p:nvPr>
            <p:ph sz="quarter" idx="13"/>
          </p:nvPr>
        </p:nvSpPr>
        <p:spPr>
          <a:xfrm>
            <a:off x="1869140" y="734063"/>
            <a:ext cx="8673354" cy="5370902"/>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Role of a Business Analyst</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b="1"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The role of a business analyst (BA) is to understand business processes, identify problems, and recommend effective solutions that improve organizational performance. Business analysts act as a bridge between business stakeholders and technical teams by gathering information, understanding business requirements, and converting them into technical specifications that developers and IT professionals can easily understand and implement.</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 business analyst works closely with managers, employees, customers, and stakeholders to analyze existing workflows and identify areas where improvements are needed. They study business operations, collect and analyze data, and suggest ways to increase efficiency, reduce costs, and improve productivity. Business analysts also help organizations implement new systems, technologies, and business strategies that support organizational goals.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In addition to technical responsibilities, business analysts also play a strategic role in organizations. They support decision-making by providing insights based on data analysis and business research.</a:t>
            </a:r>
          </a:p>
          <a:p>
            <a:pPr marL="0" indent="0">
              <a:buNone/>
            </a:pP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E8B6DCBE-74B2-42F1-0BD1-8E351AF607C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23</a:t>
            </a:fld>
            <a:endParaRPr lang="en-US" dirty="0"/>
          </a:p>
        </p:txBody>
      </p:sp>
    </p:spTree>
    <p:extLst>
      <p:ext uri="{BB962C8B-B14F-4D97-AF65-F5344CB8AC3E}">
        <p14:creationId xmlns:p14="http://schemas.microsoft.com/office/powerpoint/2010/main" val="3732852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1C159-F26C-B0CA-A206-3C5ED61ACE6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A53902-11D7-49EF-3450-6A59C15758DE}"/>
              </a:ext>
            </a:extLst>
          </p:cNvPr>
          <p:cNvSpPr>
            <a:spLocks noGrp="1"/>
          </p:cNvSpPr>
          <p:nvPr>
            <p:ph sz="quarter" idx="13"/>
          </p:nvPr>
        </p:nvSpPr>
        <p:spPr>
          <a:xfrm>
            <a:off x="1869140" y="734062"/>
            <a:ext cx="8673354" cy="546951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Responsibilities of a Business Analyst</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b="1"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Business analysts (bas) perform many important responsibilities that help organizations improve business processes and achieve project success. One of their primary responsibilities is gathering and documenting business requirements from stakeholders, managers, customers, and users. They carefully analyze business needs and convert them into clear and detailed requirements that technical teams can understand and implement effectively.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Business analysts also analyze business data, workflows, and existing processes to identify problems, inefficiencies, and opportunities for improvement. They prepare reports, presentations, and recommendations that support decision-making and help organizations improve productivity and performance. Communication is another important responsibility of a business analyst, as they regularly interact with stakeholders, developers, project managers, and other teams to ensure that everyone understands the project goals and requirements clearly.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In addition, business analysts help identify project risks, evaluate possible solutions, and ensure that business objectives are achieved successfully. </a:t>
            </a:r>
          </a:p>
          <a:p>
            <a:pPr marL="0" indent="0">
              <a:buNone/>
            </a:pP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C6F42A68-8214-8121-C631-ADB3E49CF0A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24</a:t>
            </a:fld>
            <a:endParaRPr lang="en-US" dirty="0"/>
          </a:p>
        </p:txBody>
      </p:sp>
    </p:spTree>
    <p:extLst>
      <p:ext uri="{BB962C8B-B14F-4D97-AF65-F5344CB8AC3E}">
        <p14:creationId xmlns:p14="http://schemas.microsoft.com/office/powerpoint/2010/main" val="1557528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3335D-E8A7-352A-B058-1AD049AF18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CBDAA7-5146-674F-380A-B2B2485DE14F}"/>
              </a:ext>
            </a:extLst>
          </p:cNvPr>
          <p:cNvSpPr>
            <a:spLocks noGrp="1"/>
          </p:cNvSpPr>
          <p:nvPr>
            <p:ph sz="quarter" idx="13"/>
          </p:nvPr>
        </p:nvSpPr>
        <p:spPr>
          <a:xfrm>
            <a:off x="1869140" y="734062"/>
            <a:ext cx="8673354" cy="546951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Skills Required for a Business Analyst</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b="1"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Business analyst (BA) requires a combination of technical and non-technical skills to perform their role effectively. One of the most important skills is analytical thinking, which helps business analysts understand complex business problems, analyze data, and identify suitable solutions. Problem-solving ability is also essential because business analysts are responsible for improving business processes and finding ways to increase efficiency and productivity.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Communication skills are another key requirement for a business analyst. A BA must be able to communicate clearly with stakeholders, managers, developers, and customers. They should be capable of explaining technical concepts in a simple and understandable way so that both technical and non-technical teams can work together effectively. Good listening and presentation skills are also important for gathering requirements and sharing project information.</a:t>
            </a:r>
          </a:p>
          <a:p>
            <a:pPr marL="0" indent="0">
              <a:buNone/>
            </a:pPr>
            <a:br>
              <a:rPr lang="en-US" sz="4400" cap="none" dirty="0">
                <a:solidFill>
                  <a:srgbClr val="7030A0"/>
                </a:solidFill>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Business knowledge is equally important because business analysts need to understand organizational goals, business operations, and industry practices. This helps them recommend solutions that align with business objectives.</a:t>
            </a: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0E2F286E-6474-BFB9-7C4D-5A4DC0CCC8B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25</a:t>
            </a:fld>
            <a:endParaRPr lang="en-US" dirty="0"/>
          </a:p>
        </p:txBody>
      </p:sp>
    </p:spTree>
    <p:extLst>
      <p:ext uri="{BB962C8B-B14F-4D97-AF65-F5344CB8AC3E}">
        <p14:creationId xmlns:p14="http://schemas.microsoft.com/office/powerpoint/2010/main" val="3321787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47A3E-A7AF-378B-91E3-1F9EB3BCBA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610D83-3CA8-12B2-A05E-41726CB68DCC}"/>
              </a:ext>
            </a:extLst>
          </p:cNvPr>
          <p:cNvSpPr>
            <a:spLocks noGrp="1"/>
          </p:cNvSpPr>
          <p:nvPr>
            <p:ph sz="quarter" idx="13"/>
          </p:nvPr>
        </p:nvSpPr>
        <p:spPr>
          <a:xfrm>
            <a:off x="1869140" y="734062"/>
            <a:ext cx="8673354" cy="546951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Technical Skills of a Business Analyst</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b="1"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Business analysts (bas) require various technical skills to analyze business data, manage information, and support organizational decision-making. One of the most important technical skills is knowledge of databases and SQL (structured query language). SQL helps business analysts retrieve, filter, and analyze data stored in databases, making it easier to generate reports and identify business trends.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Business analysts also need strong skills in spreadsheet tools such as </a:t>
            </a:r>
            <a:r>
              <a:rPr lang="en-US" sz="9600" cap="none" dirty="0" err="1">
                <a:latin typeface="Aparajita" panose="02020603050405020304" pitchFamily="18" charset="0"/>
                <a:cs typeface="Aparajita" panose="02020603050405020304" pitchFamily="18" charset="0"/>
              </a:rPr>
              <a:t>microsoft</a:t>
            </a:r>
            <a:r>
              <a:rPr lang="en-US" sz="9600" cap="none" dirty="0">
                <a:latin typeface="Aparajita" panose="02020603050405020304" pitchFamily="18" charset="0"/>
                <a:cs typeface="Aparajita" panose="02020603050405020304" pitchFamily="18" charset="0"/>
              </a:rPr>
              <a:t> excel. Excel is widely used for data analysis, calculations, reporting, chart creation, and organizing business information. In addition, many organizations expect business analysts to be familiar with data visualization tools such as tableau, power BI, or google data studio. These tools help present data in graphical formats like charts, dashboards, and reports, making complex information easier to understand.</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Some organizations also prefer business analysts to have a basic understanding of programming languages and software development concepts. Knowledge of programming languages such as python or R can help in advanced data analysis and automation tasks.</a:t>
            </a:r>
          </a:p>
          <a:p>
            <a:pPr marL="0" indent="0">
              <a:buNone/>
            </a:pP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3295FCA0-B182-8314-B538-0452919278F0}"/>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26</a:t>
            </a:fld>
            <a:endParaRPr lang="en-US" dirty="0"/>
          </a:p>
        </p:txBody>
      </p:sp>
    </p:spTree>
    <p:extLst>
      <p:ext uri="{BB962C8B-B14F-4D97-AF65-F5344CB8AC3E}">
        <p14:creationId xmlns:p14="http://schemas.microsoft.com/office/powerpoint/2010/main" val="3216902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F4B24-3525-A832-B988-3CFBF0CC4F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D522C0-C528-32EE-D0CB-8BB900EFDC77}"/>
              </a:ext>
            </a:extLst>
          </p:cNvPr>
          <p:cNvSpPr>
            <a:spLocks noGrp="1"/>
          </p:cNvSpPr>
          <p:nvPr>
            <p:ph sz="quarter" idx="13"/>
          </p:nvPr>
        </p:nvSpPr>
        <p:spPr>
          <a:xfrm>
            <a:off x="1869140" y="734062"/>
            <a:ext cx="8673354" cy="546951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Communication and Soft Skills</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b="1"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Communication is one of the most important skills required for a business analyst (BA). A business analyst must communicate clearly and effectively with stakeholders, clients, developers, managers, and other team members to ensure that business requirements and project goals are properly understood. Strong communication skills help business analysts gather accurate information, explain technical concepts in simple language, and maintain smooth coordination between business and technical teams.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In addition to communication, soft skills such as negotiation, teamwork, leadership, and critical thinking are also essential for a business analyst. Negotiation skills help business analysts manage conflicts, discuss project requirements, and reach agreements between different stakeholders. Teamwork skills are important because business analysts work closely with multiple departments and project teams throughout the project lifecycle.</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Leadership and critical thinking skills also help business analysts analyze business problems, evaluate solutions, and support effective decision-making.</a:t>
            </a: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C0328997-E3F3-587E-C166-4BF081E9B622}"/>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27</a:t>
            </a:fld>
            <a:endParaRPr lang="en-US" dirty="0"/>
          </a:p>
        </p:txBody>
      </p:sp>
    </p:spTree>
    <p:extLst>
      <p:ext uri="{BB962C8B-B14F-4D97-AF65-F5344CB8AC3E}">
        <p14:creationId xmlns:p14="http://schemas.microsoft.com/office/powerpoint/2010/main" val="186775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803E2-6449-5C33-264A-D9DF53B527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86F885-69F4-AB10-B582-7B0EA8EC4109}"/>
              </a:ext>
            </a:extLst>
          </p:cNvPr>
          <p:cNvSpPr>
            <a:spLocks noGrp="1"/>
          </p:cNvSpPr>
          <p:nvPr>
            <p:ph sz="quarter" idx="13"/>
          </p:nvPr>
        </p:nvSpPr>
        <p:spPr>
          <a:xfrm>
            <a:off x="1869140" y="734062"/>
            <a:ext cx="8673354" cy="546951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Business Analysis Process</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The business analysis process consists of several important stages that help organizations identify problems and implement effective solutions. The first stage is identifying the business problem or business need. In this stage, the business analyst (BA) studies the organization’s challenges, goals, and opportunities for improvement. Understanding the problem clearly is important for finding the right solution.</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The next stage is requirement gathering, where the business analyst collects information from stakeholders, customers, managers, and users through interviews, surveys, questionnaires, observations, and meetings. The purpose of this stage is to understand business expectations, user needs, and project requirements in detail.</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After gathering the requirements, the business analyst analyzes the collected data and identifies possible solutions. During this stage, workflows, business processes, risks, and system requirements are carefully examined to determine the best approach for solving the problem. The BA may also prepare reports, process diagrams, and requirement documents to support analysis and planning.</a:t>
            </a: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F6E1A37A-1A93-8192-62FD-019ABF8A7957}"/>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28</a:t>
            </a:fld>
            <a:endParaRPr lang="en-US" dirty="0"/>
          </a:p>
        </p:txBody>
      </p:sp>
    </p:spTree>
    <p:extLst>
      <p:ext uri="{BB962C8B-B14F-4D97-AF65-F5344CB8AC3E}">
        <p14:creationId xmlns:p14="http://schemas.microsoft.com/office/powerpoint/2010/main" val="1296949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6101C-F4C7-7238-DA73-1629443DFE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6EBA17-2073-7AAB-2C70-E3790AC0770F}"/>
              </a:ext>
            </a:extLst>
          </p:cNvPr>
          <p:cNvSpPr>
            <a:spLocks noGrp="1"/>
          </p:cNvSpPr>
          <p:nvPr>
            <p:ph sz="quarter" idx="13"/>
          </p:nvPr>
        </p:nvSpPr>
        <p:spPr>
          <a:xfrm>
            <a:off x="1869140" y="734062"/>
            <a:ext cx="8673354" cy="546951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Agile Methodology</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Agile is a modern project management and software development methodology that focuses on flexibility, collaboration, and continuous improvement. Unlike traditional project management approaches, agile divides projects into small phases or iterations called sprints, which usually last for a few weeks. Each sprint focuses on completing a specific set of tasks or features, allowing teams to deliver small but functional parts of the project regularly.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One of the main advantages of agile is that it allows organizations to adapt quickly to changing business requirements and customer needs. Teams work closely together and receive continuous feedback from stakeholders throughout the project lifecycle. This continuous interaction helps identify issues early and ensures that the final product meets customer expectations more effectively.</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Agile promotes teamwork, communication, and collaboration between developers, testers, business analysts, project managers, and customers. Regular meetings such as daily stand-ups, sprint planning, and review sessions help teams track progress and solve problems efficiently.</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E081815F-1A10-FF9A-36D1-43558798068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29</a:t>
            </a:fld>
            <a:endParaRPr lang="en-US" dirty="0"/>
          </a:p>
        </p:txBody>
      </p:sp>
    </p:spTree>
    <p:extLst>
      <p:ext uri="{BB962C8B-B14F-4D97-AF65-F5344CB8AC3E}">
        <p14:creationId xmlns:p14="http://schemas.microsoft.com/office/powerpoint/2010/main" val="3686229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B1DBB-F7E8-4A0D-9143-6ED37582F0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4400B6-22EF-07B8-5FB8-6C955D5E5E81}"/>
              </a:ext>
            </a:extLst>
          </p:cNvPr>
          <p:cNvSpPr>
            <a:spLocks noGrp="1"/>
          </p:cNvSpPr>
          <p:nvPr>
            <p:ph sz="quarter" idx="13"/>
          </p:nvPr>
        </p:nvSpPr>
        <p:spPr>
          <a:xfrm>
            <a:off x="1869140" y="734062"/>
            <a:ext cx="8673354" cy="546951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Waterfall Methodology</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Waterfall is a traditional project management and software development methodology that follows a sequential and structured approach. In this model, the project is divided into different phases, and each phase must be completed before moving to the next one. The main stages of the waterfall methodology include requirement gathering, system design, development, testing, deployment, and maintenance. Since the process flows step by step in one direction, it is called the “waterfall” model.</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The first phase involves gathering and documenting all project requirements in detail. After the requirements are finalized, the design phase begins, where the system architecture and technical specifications are prepared. Next, developers build the system during the development phase, followed by testing to identify and fix errors. Once testing is completed successfully, the project is deployed and delivered to users.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Waterfall methodology is suitable for projects where requirements are fixed, stable, and clearly defined from the beginning.</a:t>
            </a:r>
            <a:r>
              <a:rPr lang="en-US" sz="9600" dirty="0"/>
              <a:t> </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6696AA6B-4D85-841D-5D1C-93924D8EE3F7}"/>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30</a:t>
            </a:fld>
            <a:endParaRPr lang="en-US" dirty="0"/>
          </a:p>
        </p:txBody>
      </p:sp>
    </p:spTree>
    <p:extLst>
      <p:ext uri="{BB962C8B-B14F-4D97-AF65-F5344CB8AC3E}">
        <p14:creationId xmlns:p14="http://schemas.microsoft.com/office/powerpoint/2010/main" val="457308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3471F-A4F9-ED39-07BA-B0A7011EEE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8935CC-1669-7941-CC7E-D468728E1415}"/>
              </a:ext>
            </a:extLst>
          </p:cNvPr>
          <p:cNvSpPr>
            <a:spLocks noGrp="1"/>
          </p:cNvSpPr>
          <p:nvPr>
            <p:ph sz="quarter" idx="13"/>
          </p:nvPr>
        </p:nvSpPr>
        <p:spPr>
          <a:xfrm>
            <a:off x="1869140" y="734062"/>
            <a:ext cx="8673354" cy="546951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Stakeholder Management</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Stakeholders are individuals, groups, or organizations that are directly or indirectly affected by a project, business process, or organizational decision. Stakeholders may include customers, employees, managers, investors, suppliers, developers, and government authorities. Since stakeholders have different interests, expectations, and responsibilities, managing them properly is very important for the success of any project or business activity.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Stakeholder management is the process of identifying stakeholders, understanding their needs and expectations, and maintaining effective communication with them throughout the project lifecycle. It involves building positive relationships, sharing project updates, resolving conflicts, and ensuring that stakeholders remain engaged and informed.</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Business analysts (bas) play a key role in stakeholder management because they act as a bridge between business teams and technical teams. They communicate with stakeholders to gather requirements, clarify business needs, discuss project progress, and ensure that expectations are properly understood and fulfilled.</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2EDB7BA1-7E5B-EDE3-554D-DF4998B178BE}"/>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31</a:t>
            </a:fld>
            <a:endParaRPr lang="en-US" dirty="0"/>
          </a:p>
        </p:txBody>
      </p:sp>
    </p:spTree>
    <p:extLst>
      <p:ext uri="{BB962C8B-B14F-4D97-AF65-F5344CB8AC3E}">
        <p14:creationId xmlns:p14="http://schemas.microsoft.com/office/powerpoint/2010/main" val="6248852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79CF5-2705-9E96-A79A-5F98FD499B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05B826-B65B-DCD6-68BF-29BFC8224456}"/>
              </a:ext>
            </a:extLst>
          </p:cNvPr>
          <p:cNvSpPr>
            <a:spLocks noGrp="1"/>
          </p:cNvSpPr>
          <p:nvPr>
            <p:ph sz="quarter" idx="13"/>
          </p:nvPr>
        </p:nvSpPr>
        <p:spPr>
          <a:xfrm>
            <a:off x="1869140" y="734062"/>
            <a:ext cx="8673354" cy="546951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Importance of Business Analyst and Conclusion</a:t>
            </a:r>
            <a:br>
              <a:rPr lang="en-US" sz="9600" b="1" dirty="0">
                <a:solidFill>
                  <a:srgbClr val="7030A0"/>
                </a:solidFill>
                <a:latin typeface="Aparajita" panose="02020603050405020304" pitchFamily="18" charset="0"/>
                <a:cs typeface="Aparajita" panose="02020603050405020304" pitchFamily="18" charset="0"/>
              </a:rPr>
            </a:br>
            <a:br>
              <a:rPr lang="en-US" sz="9600" b="1" dirty="0">
                <a:solidFill>
                  <a:srgbClr val="7030A0"/>
                </a:solidFill>
                <a:latin typeface="Aparajita" panose="02020603050405020304" pitchFamily="18" charset="0"/>
                <a:cs typeface="Aparajita" panose="02020603050405020304" pitchFamily="18" charset="0"/>
              </a:rPr>
            </a:br>
            <a:r>
              <a:rPr lang="en-US" sz="9600" b="1"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Business analysts (bas) play a vital role in modern organizations by helping businesses improve processes, solve problems, reduce risks, and support effective decision-making. They act as a bridge between business teams and technical teams, ensuring that business needs are clearly understood and translated into practical and effective solutions. Business analysts help organizations identify opportunities for improvement, increase productivity, reduce operational costs, and enhance overall business performance.</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Business analysts combine technical knowledge, analytical thinking, problem-solving abilities, and communication skills to support successful project implementation. They gather and analyze requirements, study business processes, communicate with stakeholders, and assist organizations in adopting new technologies and strategies. Their work helps ensure that projects meet business objectives and deliver value to the organization.</a:t>
            </a:r>
            <a:r>
              <a:rPr lang="en-US" sz="9600" dirty="0"/>
              <a:t> </a:t>
            </a:r>
            <a:r>
              <a:rPr lang="en-US" sz="9600" cap="none" dirty="0">
                <a:latin typeface="Aparajita" panose="02020603050405020304" pitchFamily="18" charset="0"/>
                <a:cs typeface="Aparajita" panose="02020603050405020304" pitchFamily="18" charset="0"/>
              </a:rPr>
              <a:t>Business analysts play an important role in project planning, stakeholder management, risk analysis, and process improvement.</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4400" cap="none" dirty="0">
                <a:solidFill>
                  <a:srgbClr val="7030A0"/>
                </a:solidFill>
                <a:latin typeface="Aparajita" panose="02020603050405020304" pitchFamily="18" charset="0"/>
                <a:cs typeface="Aparajita" panose="02020603050405020304" pitchFamily="18" charset="0"/>
              </a:rPr>
            </a:br>
            <a:br>
              <a:rPr lang="en-US" sz="4400" dirty="0">
                <a:solidFill>
                  <a:srgbClr val="7030A0"/>
                </a:solidFill>
                <a:latin typeface="Aparajita" panose="02020603050405020304" pitchFamily="18" charset="0"/>
                <a:cs typeface="Aparajita" panose="02020603050405020304" pitchFamily="18" charset="0"/>
              </a:rPr>
            </a:br>
            <a:br>
              <a:rPr lang="en-US" sz="2600" b="1" cap="none" dirty="0">
                <a:solidFill>
                  <a:srgbClr val="7030A0"/>
                </a:solidFill>
                <a:latin typeface="Aparajita" panose="02020603050405020304" pitchFamily="18" charset="0"/>
                <a:cs typeface="Aparajita" panose="02020603050405020304" pitchFamily="18" charset="0"/>
              </a:rPr>
            </a:br>
            <a:r>
              <a:rPr lang="en-US" sz="5100" b="1" cap="none" dirty="0">
                <a:solidFill>
                  <a:srgbClr val="7030A0"/>
                </a:solidFill>
                <a:latin typeface="Aparajita" panose="02020603050405020304" pitchFamily="18" charset="0"/>
                <a:cs typeface="Aparajita" panose="02020603050405020304" pitchFamily="18" charset="0"/>
              </a:rPr>
              <a:t>            </a:t>
            </a:r>
            <a:endParaRPr lang="en-US" sz="4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534A2F05-0E01-0241-64F9-704F746E410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32</a:t>
            </a:fld>
            <a:endParaRPr lang="en-US" dirty="0"/>
          </a:p>
        </p:txBody>
      </p:sp>
    </p:spTree>
    <p:extLst>
      <p:ext uri="{BB962C8B-B14F-4D97-AF65-F5344CB8AC3E}">
        <p14:creationId xmlns:p14="http://schemas.microsoft.com/office/powerpoint/2010/main" val="13539869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1EDC0-8BFA-3E2F-337B-1730895280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6E3D20-91B7-A524-B29F-D73CCCEB19E3}"/>
              </a:ext>
            </a:extLst>
          </p:cNvPr>
          <p:cNvSpPr>
            <a:spLocks noGrp="1"/>
          </p:cNvSpPr>
          <p:nvPr>
            <p:ph sz="quarter" idx="13"/>
          </p:nvPr>
        </p:nvSpPr>
        <p:spPr>
          <a:xfrm>
            <a:off x="1779493" y="1096486"/>
            <a:ext cx="8789895" cy="5008479"/>
          </a:xfrm>
        </p:spPr>
        <p:txBody>
          <a:bodyPr>
            <a:normAutofit fontScale="32500" lnSpcReduction="20000"/>
          </a:bodyPr>
          <a:lstStyle/>
          <a:p>
            <a:pPr marL="0" indent="0">
              <a:buNone/>
            </a:pPr>
            <a:br>
              <a:rPr lang="en-US" sz="3100" dirty="0">
                <a:solidFill>
                  <a:srgbClr val="7030A0"/>
                </a:solidFill>
                <a:latin typeface="Aparajita" panose="02020603050405020304" pitchFamily="18" charset="0"/>
                <a:cs typeface="Aparajita" panose="02020603050405020304" pitchFamily="18" charset="0"/>
              </a:rPr>
            </a:br>
            <a:r>
              <a:rPr lang="en-US" sz="6000" dirty="0">
                <a:solidFill>
                  <a:srgbClr val="7030A0"/>
                </a:solidFill>
                <a:latin typeface="Aparajita" panose="02020603050405020304" pitchFamily="18" charset="0"/>
                <a:cs typeface="Aparajita" panose="02020603050405020304" pitchFamily="18" charset="0"/>
              </a:rPr>
              <a:t>Introduction to Data</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7400" cap="none" dirty="0" err="1">
                <a:latin typeface="Aparajita" panose="02020603050405020304" pitchFamily="18" charset="0"/>
                <a:cs typeface="Aparajita" panose="02020603050405020304" pitchFamily="18" charset="0"/>
              </a:rPr>
              <a:t>Data</a:t>
            </a:r>
            <a:r>
              <a:rPr lang="en-US" sz="7400" cap="none" dirty="0">
                <a:latin typeface="Aparajita" panose="02020603050405020304" pitchFamily="18" charset="0"/>
                <a:cs typeface="Aparajita" panose="02020603050405020304" pitchFamily="18" charset="0"/>
              </a:rPr>
              <a:t> refers to raw facts, figures, and observations collected from different sources. It can exist in various forms such as numbers, text, symbols, images, audio, videos, or measurements. By itself, data does not provide clear meaning because it has not been processed, organized, or analyzed. However, when data is processed and interpreted, it becomes meaningful information that can support decision-making and problem-solving.</a:t>
            </a:r>
            <a:br>
              <a:rPr lang="en-US" sz="7400" cap="none" dirty="0">
                <a:latin typeface="Aparajita" panose="02020603050405020304" pitchFamily="18" charset="0"/>
                <a:cs typeface="Aparajita" panose="02020603050405020304" pitchFamily="18" charset="0"/>
              </a:rPr>
            </a:br>
            <a:endParaRPr lang="en-US" sz="7400" cap="none" dirty="0">
              <a:latin typeface="Aparajita" panose="02020603050405020304" pitchFamily="18" charset="0"/>
              <a:cs typeface="Aparajita" panose="02020603050405020304" pitchFamily="18" charset="0"/>
            </a:endParaRPr>
          </a:p>
          <a:p>
            <a:pPr marL="0" indent="0">
              <a:buNone/>
            </a:pPr>
            <a:r>
              <a:rPr lang="en-US" sz="7400" cap="none" dirty="0">
                <a:latin typeface="Aparajita" panose="02020603050405020304" pitchFamily="18" charset="0"/>
                <a:cs typeface="Aparajita" panose="02020603050405020304" pitchFamily="18" charset="0"/>
              </a:rPr>
              <a:t>In modern businesses and organizations, huge amounts of data are generated every day through customer interactions, online transactions, websites, social media platforms, sensors, and digital systems. Organizations collect and store this data to understand customer behavior, monitor business performance, identify trends, and improve operational efficiency.</a:t>
            </a:r>
          </a:p>
          <a:p>
            <a:pPr marL="0" indent="0">
              <a:buNone/>
            </a:pPr>
            <a:br>
              <a:rPr lang="en-US" sz="7400" cap="none" dirty="0">
                <a:latin typeface="Aparajita" panose="02020603050405020304" pitchFamily="18" charset="0"/>
                <a:cs typeface="Aparajita" panose="02020603050405020304" pitchFamily="18" charset="0"/>
              </a:rPr>
            </a:br>
            <a:r>
              <a:rPr lang="en-US" sz="7400" cap="none" dirty="0">
                <a:latin typeface="Aparajita" panose="02020603050405020304" pitchFamily="18" charset="0"/>
                <a:cs typeface="Aparajita" panose="02020603050405020304" pitchFamily="18" charset="0"/>
              </a:rPr>
              <a:t>Data acts as the foundation for analysis, reporting, forecasting, and strategic planning. Businesses use data to make informed decisions instead of relying on assumptions or guesses. </a:t>
            </a:r>
            <a:endParaRPr lang="en-US" sz="7400" dirty="0">
              <a:solidFill>
                <a:srgbClr val="7030A0"/>
              </a:solidFill>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751116ED-7A74-BF03-A252-0B6871C3748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33</a:t>
            </a:fld>
            <a:endParaRPr lang="en-US" dirty="0"/>
          </a:p>
        </p:txBody>
      </p:sp>
      <p:sp>
        <p:nvSpPr>
          <p:cNvPr id="6" name="Title 8">
            <a:extLst>
              <a:ext uri="{FF2B5EF4-FFF2-40B4-BE49-F238E27FC236}">
                <a16:creationId xmlns:a16="http://schemas.microsoft.com/office/drawing/2014/main" id="{78F9E7C4-8E42-82AF-FBF8-1ADB2565F2F3}"/>
              </a:ext>
            </a:extLst>
          </p:cNvPr>
          <p:cNvSpPr>
            <a:spLocks noGrp="1"/>
          </p:cNvSpPr>
          <p:nvPr>
            <p:ph type="title"/>
          </p:nvPr>
        </p:nvSpPr>
        <p:spPr>
          <a:xfrm>
            <a:off x="4179793" y="349623"/>
            <a:ext cx="4139454" cy="528918"/>
          </a:xfrm>
        </p:spPr>
        <p:txBody>
          <a:bodyPr/>
          <a:lstStyle/>
          <a:p>
            <a:r>
              <a:rPr lang="en-US" dirty="0">
                <a:solidFill>
                  <a:schemeClr val="accent2"/>
                </a:solidFill>
                <a:latin typeface="Aparajita" panose="02020603050405020304" pitchFamily="18" charset="0"/>
                <a:cs typeface="Aparajita" panose="02020603050405020304" pitchFamily="18" charset="0"/>
              </a:rPr>
              <a:t>DATA VS INFORMATION</a:t>
            </a:r>
          </a:p>
        </p:txBody>
      </p:sp>
    </p:spTree>
    <p:extLst>
      <p:ext uri="{BB962C8B-B14F-4D97-AF65-F5344CB8AC3E}">
        <p14:creationId xmlns:p14="http://schemas.microsoft.com/office/powerpoint/2010/main" val="24094809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355C2-05ED-CCFF-F773-CFCCCFEBDE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D5FB44-A1C4-E4B6-9D80-D8261D894C90}"/>
              </a:ext>
            </a:extLst>
          </p:cNvPr>
          <p:cNvSpPr>
            <a:spLocks noGrp="1"/>
          </p:cNvSpPr>
          <p:nvPr>
            <p:ph sz="quarter" idx="13"/>
          </p:nvPr>
        </p:nvSpPr>
        <p:spPr>
          <a:xfrm>
            <a:off x="1701052" y="871325"/>
            <a:ext cx="8789895" cy="5108134"/>
          </a:xfrm>
        </p:spPr>
        <p:txBody>
          <a:bodyPr>
            <a:normAutofit fontScale="25000" lnSpcReduction="20000"/>
          </a:bodyPr>
          <a:lstStyle/>
          <a:p>
            <a:pPr marL="0" indent="0">
              <a:buNone/>
            </a:pPr>
            <a:br>
              <a:rPr lang="en-US" sz="96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DIFFERENCE BETWEEN DATA AND INFORMATION</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and information are closely related concepts, but they are not the same. Data refers to raw, unprocessed, and unorganized facts or figures collected from different sources. It may include numbers, text, symbols, or observations that do not provide any clear meaning on their own. For example, sales numbers, customer names, or transaction records are considered data before they are analyzed or organized.</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Information, on the other hand, is processed, organized, and meaningful data that helps people understand situations and make decisions. When data is analyzed, arranged, and interpreted in a useful way, it becomes information. For example, a report showing monthly sales growth or customer purchasing trends is considered information because it provides insights and understanding.</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In simple terms, data is considered the input, while information is the output produced after processing the data. Data alone may not be very useful for decision-making, but information helps businesses identify trends, solve problems, improve planning, and make informed decisions.</a:t>
            </a:r>
          </a:p>
        </p:txBody>
      </p:sp>
      <p:sp>
        <p:nvSpPr>
          <p:cNvPr id="4" name="Slide Number Placeholder 3">
            <a:extLst>
              <a:ext uri="{FF2B5EF4-FFF2-40B4-BE49-F238E27FC236}">
                <a16:creationId xmlns:a16="http://schemas.microsoft.com/office/drawing/2014/main" id="{62FEE112-6C3B-A10F-823C-3E60F0D9715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34</a:t>
            </a:fld>
            <a:endParaRPr lang="en-US" dirty="0"/>
          </a:p>
        </p:txBody>
      </p:sp>
    </p:spTree>
    <p:extLst>
      <p:ext uri="{BB962C8B-B14F-4D97-AF65-F5344CB8AC3E}">
        <p14:creationId xmlns:p14="http://schemas.microsoft.com/office/powerpoint/2010/main" val="4052866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0C964-277D-FCA4-FE6D-B73121E5F1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B88069-7138-9362-AC93-C6CCE03BB434}"/>
              </a:ext>
            </a:extLst>
          </p:cNvPr>
          <p:cNvSpPr>
            <a:spLocks noGrp="1"/>
          </p:cNvSpPr>
          <p:nvPr>
            <p:ph sz="quarter" idx="13"/>
          </p:nvPr>
        </p:nvSpPr>
        <p:spPr>
          <a:xfrm>
            <a:off x="1701052" y="871325"/>
            <a:ext cx="8789895" cy="5108134"/>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RAW DATA VS PROCESSED DATA</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Raw data refers to original facts and figures collected directly from different sources without any modification or analysis. It is unorganized and may contain errors, duplicate entries, missing values, or unnecessary details. Raw data can exist in different forms such as numbers, text, transaction records, survey responses, or sensor readings. By itself, raw data may not provide meaningful insights or support effective decision-making because it has not been processed or structured properly.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Processed data, on the other hand, is data that has been cleaned, organized, filtered, and analyzed to make it meaningful and useful. During data processing, errors and duplicate entries are removed, missing values are corrected, and the data is arranged into a proper format. Processed data helps organizations understand patterns, generate reports, and make informed business decisions.</a:t>
            </a:r>
            <a:r>
              <a:rPr lang="en-US" sz="9600" dirty="0"/>
              <a:t> </a:t>
            </a:r>
            <a:r>
              <a:rPr lang="en-US" sz="9600" cap="none" dirty="0">
                <a:latin typeface="Aparajita" panose="02020603050405020304" pitchFamily="18" charset="0"/>
                <a:cs typeface="Aparajita" panose="02020603050405020304" pitchFamily="18" charset="0"/>
              </a:rPr>
              <a:t>Individual customer transaction records collected by a retail store represent raw data. When these records are summarized into a monthly sales report showing customer purchasing trends and total sales, they become processed data.</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1CDA9DFB-466B-37F7-DCB1-296CB692A8E3}"/>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35</a:t>
            </a:fld>
            <a:endParaRPr lang="en-US" dirty="0"/>
          </a:p>
        </p:txBody>
      </p:sp>
    </p:spTree>
    <p:extLst>
      <p:ext uri="{BB962C8B-B14F-4D97-AF65-F5344CB8AC3E}">
        <p14:creationId xmlns:p14="http://schemas.microsoft.com/office/powerpoint/2010/main" val="13813379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BFA5E-8C17-C82A-972C-CD57B8CDAED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52E1A3-BA66-4E88-49A0-DFE4D76F1A13}"/>
              </a:ext>
            </a:extLst>
          </p:cNvPr>
          <p:cNvSpPr>
            <a:spLocks noGrp="1"/>
          </p:cNvSpPr>
          <p:nvPr>
            <p:ph sz="quarter" idx="13"/>
          </p:nvPr>
        </p:nvSpPr>
        <p:spPr>
          <a:xfrm>
            <a:off x="1701053" y="871325"/>
            <a:ext cx="8617324" cy="5108134"/>
          </a:xfrm>
        </p:spPr>
        <p:txBody>
          <a:bodyPr>
            <a:normAutofit fontScale="25000" lnSpcReduction="20000"/>
          </a:bodyPr>
          <a:lstStyle/>
          <a:p>
            <a:pPr marL="0" indent="0">
              <a:buNone/>
            </a:pPr>
            <a:br>
              <a:rPr lang="en-US" sz="6000"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DATA PROCESSING STEPS</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processing involves a series of steps that convert raw data into meaningful and useful information. The first step is data collection, where data is gathered from different sources such as surveys, databases, websites, transactions, sensors, or business systems. The quality of collected data is important because accurate data leads to better analysis and decision-making.</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The next step is data cleaning, where errors, duplicate entries, missing values, and inconsistencies are identified and removed. This step ensures that the data is accurate, complete, and reliable before analysis. Poor-quality data can lead to incorrect conclusions and poor business decisions, so data cleaning is a very important part of the process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The data is organized and processed using software tools, databases, and analytical methods. During this stage, data is sorted, categorized, calculated, and analyzed to identify patterns, trends, and relationships. Organizations may use tools such as spreadsheets, database systems, or business intelligence software for data analysis</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638B7533-E05F-22A8-DF64-4B7A0376886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36</a:t>
            </a:fld>
            <a:endParaRPr lang="en-US" dirty="0"/>
          </a:p>
        </p:txBody>
      </p:sp>
    </p:spTree>
    <p:extLst>
      <p:ext uri="{BB962C8B-B14F-4D97-AF65-F5344CB8AC3E}">
        <p14:creationId xmlns:p14="http://schemas.microsoft.com/office/powerpoint/2010/main" val="32313613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EC3D-3568-6327-5414-F16B5115F0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A81D4B-8FA0-95B9-AA58-31E8C0A9CAB9}"/>
              </a:ext>
            </a:extLst>
          </p:cNvPr>
          <p:cNvSpPr>
            <a:spLocks noGrp="1"/>
          </p:cNvSpPr>
          <p:nvPr>
            <p:ph sz="quarter" idx="13"/>
          </p:nvPr>
        </p:nvSpPr>
        <p:spPr>
          <a:xfrm>
            <a:off x="1701053" y="871325"/>
            <a:ext cx="8464923" cy="5108134"/>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From Data to Information to Knowledge</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information, and knowledge are closely connected concepts that help organizations make effective decisions and improve business performance. Data refers to raw facts and figures collected from different sources. It may include numbers, text, symbols, or observations that do not have clear meaning by themselves. For example, individual sales records, customer transactions, or website visits are considered data.</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When data is processed, organized, and analyzed, it becomes information. Information provides meaning and context to the raw data, making it useful for understanding situations and identifying trends. For example, a report showing monthly sales growth, customer purchasing patterns, or product performance is considered information because it helps managers understand business activities more clearly.</a:t>
            </a:r>
            <a:r>
              <a:rPr lang="en-US" sz="9600" dirty="0"/>
              <a:t> </a:t>
            </a:r>
            <a:r>
              <a:rPr lang="en-US" sz="9600" cap="none" dirty="0"/>
              <a:t>K</a:t>
            </a:r>
            <a:r>
              <a:rPr lang="en-US" sz="9600" cap="none" dirty="0">
                <a:latin typeface="Aparajita" panose="02020603050405020304" pitchFamily="18" charset="0"/>
                <a:cs typeface="Aparajita" panose="02020603050405020304" pitchFamily="18" charset="0"/>
              </a:rPr>
              <a:t>nowledge is the final stage in this process and is gained through understanding, experience, interpretation, and decision-making based on information. Knowledge helps organizations take action and develop effective strategies.</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4174995C-B135-C24C-A5DB-D595CE409EF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37</a:t>
            </a:fld>
            <a:endParaRPr lang="en-US" dirty="0"/>
          </a:p>
        </p:txBody>
      </p:sp>
    </p:spTree>
    <p:extLst>
      <p:ext uri="{BB962C8B-B14F-4D97-AF65-F5344CB8AC3E}">
        <p14:creationId xmlns:p14="http://schemas.microsoft.com/office/powerpoint/2010/main" val="1240264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1E627-0468-36A5-FBE4-4726089FC3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DA1170-CA97-49B7-F22B-45751E67D8C4}"/>
              </a:ext>
            </a:extLst>
          </p:cNvPr>
          <p:cNvSpPr>
            <a:spLocks noGrp="1"/>
          </p:cNvSpPr>
          <p:nvPr>
            <p:ph sz="quarter" idx="13"/>
          </p:nvPr>
        </p:nvSpPr>
        <p:spPr>
          <a:xfrm>
            <a:off x="1701053" y="871325"/>
            <a:ext cx="8464923" cy="5233640"/>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Importance of Information in Decision Making</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Information plays a very important role in decision-making because it helps managers and organizations understand situations clearly and reduce uncertainty. Accurate and reliable information allows businesses to make decisions based on facts and analysis rather than assumptions or guesses. Organizations use information to identify market trends, customer preferences, business opportunities, and operational problems, which helps improve planning and performance.</a:t>
            </a:r>
          </a:p>
          <a:p>
            <a:pPr marL="0" indent="0">
              <a:buNone/>
            </a:pP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Businesses also use information to forecast future outcomes and evaluate organizational performance. For example, sales reports, customer feedback, and financial statements provide useful insights that help managers predict future demand, improve products and services, and develop effective business strategies. Information supports both short-term and long-term planning, helping organizations achieve their goals more efficiently.</a:t>
            </a:r>
            <a:r>
              <a:rPr lang="en-US" sz="9600" dirty="0"/>
              <a:t> </a:t>
            </a:r>
            <a:r>
              <a:rPr lang="en-US" sz="9600" cap="none" dirty="0">
                <a:latin typeface="Aparajita" panose="02020603050405020304" pitchFamily="18" charset="0"/>
                <a:cs typeface="Aparajita" panose="02020603050405020304" pitchFamily="18" charset="0"/>
              </a:rPr>
              <a:t>Information improves operational efficiency by helping businesses identify weaknesses, reduce risks, and optimize business processes. Organizations that use accurate and timely information can respond quickly to changing market conditions, customer needs, and competitive challenges</a:t>
            </a:r>
            <a:r>
              <a:rPr lang="en-US" sz="9600" dirty="0"/>
              <a:t>.</a:t>
            </a: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EF1B4317-B6CA-A8A9-62AE-8CDAB3462F40}"/>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38</a:t>
            </a:fld>
            <a:endParaRPr lang="en-US" dirty="0"/>
          </a:p>
        </p:txBody>
      </p:sp>
    </p:spTree>
    <p:extLst>
      <p:ext uri="{BB962C8B-B14F-4D97-AF65-F5344CB8AC3E}">
        <p14:creationId xmlns:p14="http://schemas.microsoft.com/office/powerpoint/2010/main" val="462948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7CF5-A153-55D7-3692-B76433A5BF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8BBC44-8EA3-5897-F1B3-09F6AAA6E0F9}"/>
              </a:ext>
            </a:extLst>
          </p:cNvPr>
          <p:cNvSpPr>
            <a:spLocks noGrp="1"/>
          </p:cNvSpPr>
          <p:nvPr>
            <p:ph sz="quarter" idx="13"/>
          </p:nvPr>
        </p:nvSpPr>
        <p:spPr>
          <a:xfrm>
            <a:off x="1701053" y="923365"/>
            <a:ext cx="8464923" cy="5020235"/>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Real-Life Examples of Data and Information</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Real-life examples help in understanding the difference between data and information more clearly. Data refers to raw facts and figures collected from different sources, while information is the meaningful result obtained after processing and analyzing that data. In businesses, large amounts of raw data are generated every day through transactions, customer interactions, and digital systems.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For example, a company’s daily sales records, including product names, quantities sold, prices, and transaction times, represent data because they are raw and unprocessed facts. When these sales records are organized and analyzed to create a monthly sales performance report showing total revenue, best-selling products, and sales trends, the result becomes information because it provides meaningful insights for decision-making.</a:t>
            </a:r>
            <a:r>
              <a:rPr lang="en-US" sz="9600" dirty="0">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Similarly, social media comments, customer reviews, and feedback collected from online platforms are examples of raw data. By themselves, these comments may not provide clear understanding</a:t>
            </a:r>
          </a:p>
          <a:p>
            <a:pPr marL="0" indent="0">
              <a:buNone/>
            </a:pPr>
            <a:r>
              <a:rPr lang="en-US" sz="9600" dirty="0"/>
              <a:t>.</a:t>
            </a: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D5690E1A-051D-BFC8-7C82-584DD277CBF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39</a:t>
            </a:fld>
            <a:endParaRPr lang="en-US" dirty="0"/>
          </a:p>
        </p:txBody>
      </p:sp>
    </p:spTree>
    <p:extLst>
      <p:ext uri="{BB962C8B-B14F-4D97-AF65-F5344CB8AC3E}">
        <p14:creationId xmlns:p14="http://schemas.microsoft.com/office/powerpoint/2010/main" val="26078506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518FB-9686-ADE3-05B2-179167651E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969554-3054-B386-89AE-0C98DFD77453}"/>
              </a:ext>
            </a:extLst>
          </p:cNvPr>
          <p:cNvSpPr>
            <a:spLocks noGrp="1"/>
          </p:cNvSpPr>
          <p:nvPr>
            <p:ph sz="quarter" idx="13"/>
          </p:nvPr>
        </p:nvSpPr>
        <p:spPr>
          <a:xfrm>
            <a:off x="1701053" y="923365"/>
            <a:ext cx="8464923" cy="5082988"/>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Role of Technology in Data Processing</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Technology plays a very important role in converting raw data into meaningful information. Modern organizations generate huge amounts of data every day, and technology helps process, organize, analyze, and manage this data quickly and accurately. Without technology, handling large volumes of data manually would be slow, difficult, and prone to errors.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Databases and database management systems are commonly used to store and organize data efficiently. These systems allow organizations to retrieve, update, and manage information easily. In addition, analytics tools and business intelligence (BI) systems help analyze large amounts of data to identify patterns, trends, and useful insights that support business decision-making.</a:t>
            </a:r>
            <a:r>
              <a:rPr lang="en-US" sz="9600" dirty="0"/>
              <a:t> </a:t>
            </a:r>
            <a:r>
              <a:rPr lang="en-US" sz="9600" cap="none" dirty="0">
                <a:latin typeface="Aparajita" panose="02020603050405020304" pitchFamily="18" charset="0"/>
                <a:cs typeface="Aparajita" panose="02020603050405020304" pitchFamily="18" charset="0"/>
              </a:rPr>
              <a:t>Advanced technologies such as artificial intelligence (AI), machine learning, and big data analytics further improve data processing capabilities. These technologies can automatically analyze complex data, make predictions, identify customer behavior, and support strategic planning. Organizations use these technologies to improve efficiency, reduce costs, and gain a competitive advantage.</a:t>
            </a:r>
          </a:p>
          <a:p>
            <a:pPr marL="0" indent="0">
              <a:buNone/>
            </a:pPr>
            <a:r>
              <a:rPr lang="en-US" sz="9600" dirty="0"/>
              <a:t>.</a:t>
            </a: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E9AA43C0-448D-790A-FAF3-7DF38B1B1B9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40</a:t>
            </a:fld>
            <a:endParaRPr lang="en-US" dirty="0"/>
          </a:p>
        </p:txBody>
      </p:sp>
    </p:spTree>
    <p:extLst>
      <p:ext uri="{BB962C8B-B14F-4D97-AF65-F5344CB8AC3E}">
        <p14:creationId xmlns:p14="http://schemas.microsoft.com/office/powerpoint/2010/main" val="40600853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A0607-663D-CA55-2CBF-755852FB66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8B8165-EE1C-D5E9-33A9-E366B43F84AE}"/>
              </a:ext>
            </a:extLst>
          </p:cNvPr>
          <p:cNvSpPr>
            <a:spLocks noGrp="1"/>
          </p:cNvSpPr>
          <p:nvPr>
            <p:ph sz="quarter" idx="13"/>
          </p:nvPr>
        </p:nvSpPr>
        <p:spPr>
          <a:xfrm>
            <a:off x="1701053" y="1039905"/>
            <a:ext cx="8464923" cy="4966447"/>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Challenges in Managing Data and Information</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Organizations face several challenges in managing data and information effectively. One of the major challenges is poor data quality, which includes inaccurate, incomplete, outdated, or inconsistent data. Poor-quality data can lead to incorrect analysis, wrong decisions, and reduced business performance. Therefore, organizations must regularly clean and validate data to maintain accuracy and reliability.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Another common challenge is data duplication, where the same information is stored multiple times in different systems or databases. Duplicate data increases storage costs, creates confusion, and affects data consistency. Proper database management and integration techniques are necessary to reduce duplication and improve efficiency.</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Data security is also a major concern for organizations because sensitive business and customer information can be exposed to cyberattacks, unauthorized access, or data breaches</a:t>
            </a:r>
            <a:r>
              <a:rPr lang="en-US" sz="9600" dirty="0"/>
              <a:t>.</a:t>
            </a: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4284B58A-2872-7A99-6FD6-1109AE9CEC8F}"/>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41</a:t>
            </a:fld>
            <a:endParaRPr lang="en-US" dirty="0"/>
          </a:p>
        </p:txBody>
      </p:sp>
      <p:sp>
        <p:nvSpPr>
          <p:cNvPr id="2" name="Title 8">
            <a:extLst>
              <a:ext uri="{FF2B5EF4-FFF2-40B4-BE49-F238E27FC236}">
                <a16:creationId xmlns:a16="http://schemas.microsoft.com/office/drawing/2014/main" id="{36D8CE5B-2AD1-DDD0-50C4-CAF31880978F}"/>
              </a:ext>
            </a:extLst>
          </p:cNvPr>
          <p:cNvSpPr>
            <a:spLocks noGrp="1"/>
          </p:cNvSpPr>
          <p:nvPr>
            <p:ph type="title"/>
          </p:nvPr>
        </p:nvSpPr>
        <p:spPr>
          <a:xfrm>
            <a:off x="3218329" y="421341"/>
            <a:ext cx="6947647" cy="528918"/>
          </a:xfrm>
        </p:spPr>
        <p:txBody>
          <a:bodyPr/>
          <a:lstStyle/>
          <a:p>
            <a:r>
              <a:rPr lang="en-US" dirty="0">
                <a:solidFill>
                  <a:schemeClr val="accent2"/>
                </a:solidFill>
                <a:latin typeface="Aparajita" panose="02020603050405020304" pitchFamily="18" charset="0"/>
                <a:cs typeface="Aparajita" panose="02020603050405020304" pitchFamily="18" charset="0"/>
              </a:rPr>
              <a:t>INFORMATION-BASED DECISION MAKING</a:t>
            </a:r>
          </a:p>
        </p:txBody>
      </p:sp>
    </p:spTree>
    <p:extLst>
      <p:ext uri="{BB962C8B-B14F-4D97-AF65-F5344CB8AC3E}">
        <p14:creationId xmlns:p14="http://schemas.microsoft.com/office/powerpoint/2010/main" val="15410307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11DA5-E6AC-942D-7701-A9D7F3F2632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F6F71-6B0A-2BCE-171D-21D88025F281}"/>
              </a:ext>
            </a:extLst>
          </p:cNvPr>
          <p:cNvSpPr>
            <a:spLocks noGrp="1"/>
          </p:cNvSpPr>
          <p:nvPr>
            <p:ph sz="quarter" idx="13"/>
          </p:nvPr>
        </p:nvSpPr>
        <p:spPr>
          <a:xfrm>
            <a:off x="1701053" y="923365"/>
            <a:ext cx="8464923" cy="5190564"/>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Importance of Data-Driven Decision Making</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Data-driven decision making (DDDM) is important because it helps organizations make accurate, reliable, and informed decisions based on data analysis rather than assumptions or intuition. By using data, businesses can reduce uncertainty and improve the quality of their decisions. Organizations collect and analyze data from various sources to understand customer behavior, market trends, business performance, and operational challenges more effectively.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DDDM helps organizations identify customer needs, preferences, and purchasing patterns, allowing businesses to provide better products and services. It also helps companies detect operational problems, measure performance, and improve business processes. Through data analysis, managers can make better strategic plans, forecast future trends, and respond quickly to changing market conditions.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Another major advantage of data-driven approaches is improved efficiency and reduced risks. Organizations can optimize resources, reduce unnecessary costs, and identify potential problems before they become serious issues</a:t>
            </a:r>
            <a:r>
              <a:rPr lang="en-US" sz="9600" dirty="0">
                <a:latin typeface="Aparajita" panose="02020603050405020304" pitchFamily="18" charset="0"/>
                <a:cs typeface="Aparajita" panose="02020603050405020304" pitchFamily="18" charset="0"/>
              </a:rPr>
              <a:t>.</a:t>
            </a: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6643D3C3-50AC-9079-5754-52CC25BA9DF8}"/>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42</a:t>
            </a:fld>
            <a:endParaRPr lang="en-US" dirty="0"/>
          </a:p>
        </p:txBody>
      </p:sp>
    </p:spTree>
    <p:extLst>
      <p:ext uri="{BB962C8B-B14F-4D97-AF65-F5344CB8AC3E}">
        <p14:creationId xmlns:p14="http://schemas.microsoft.com/office/powerpoint/2010/main" val="4082096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728EB-1D78-AD57-4D39-592EBD2420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72E45E-4F9B-2068-AEC0-A1EC17CB1F02}"/>
              </a:ext>
            </a:extLst>
          </p:cNvPr>
          <p:cNvSpPr>
            <a:spLocks noGrp="1"/>
          </p:cNvSpPr>
          <p:nvPr>
            <p:ph sz="quarter" idx="13"/>
          </p:nvPr>
        </p:nvSpPr>
        <p:spPr>
          <a:xfrm>
            <a:off x="1701053" y="923365"/>
            <a:ext cx="8464923" cy="5127811"/>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Process of Data-Driven Decision Making</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t>The process of data-driven decision making (DDDM) begins with identifying the business problem, objective, or decision that needs to be addressed. Organizations first determine what they want to achieve, such as improving sales, reducing costs, understanding customer behavior, or solving operational issues. Clearly defining the objective helps organizations focus on collecting relevant and useful data.</a:t>
            </a:r>
            <a:br>
              <a:rPr lang="en-US" sz="9600" cap="none" dirty="0"/>
            </a:br>
            <a:endParaRPr lang="en-US" sz="9600" cap="none" dirty="0"/>
          </a:p>
          <a:p>
            <a:pPr marL="0" indent="0">
              <a:buNone/>
            </a:pPr>
            <a:r>
              <a:rPr lang="en-US" sz="9600" cap="none" dirty="0"/>
              <a:t>The next step is data collection, where information is gathered from different internal and external sources such as databases, surveys, websites, social media platforms, customer records, transactions, and sensors. Collecting accurate and relevant data is important because the quality of data directly affects the quality of decisions.</a:t>
            </a:r>
            <a:br>
              <a:rPr lang="en-US" sz="9600" cap="none" dirty="0"/>
            </a:br>
            <a:endParaRPr lang="en-US" sz="9600" cap="none" dirty="0"/>
          </a:p>
          <a:p>
            <a:pPr marL="0" indent="0">
              <a:buNone/>
            </a:pPr>
            <a:r>
              <a:rPr lang="en-US" sz="9600" cap="none" dirty="0"/>
              <a:t>After data collection, the data is cleaned, organized, and processed to remove errors, duplicates, and inconsistencies.</a:t>
            </a: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C3AE9095-DA31-0835-6E84-3578F83B0563}"/>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43</a:t>
            </a:fld>
            <a:endParaRPr lang="en-US" dirty="0"/>
          </a:p>
        </p:txBody>
      </p:sp>
    </p:spTree>
    <p:extLst>
      <p:ext uri="{BB962C8B-B14F-4D97-AF65-F5344CB8AC3E}">
        <p14:creationId xmlns:p14="http://schemas.microsoft.com/office/powerpoint/2010/main" val="17557126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57795-C5BD-7EB0-E474-C1B2676A26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49652F-1127-F87B-B080-D2921C74B542}"/>
              </a:ext>
            </a:extLst>
          </p:cNvPr>
          <p:cNvSpPr>
            <a:spLocks noGrp="1"/>
          </p:cNvSpPr>
          <p:nvPr>
            <p:ph sz="quarter" idx="13"/>
          </p:nvPr>
        </p:nvSpPr>
        <p:spPr>
          <a:xfrm>
            <a:off x="1701053" y="923366"/>
            <a:ext cx="8464923" cy="4778188"/>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Types of Data Analysis</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Organizations use different types of data analysis in data-driven decision making (DDDM) to understand business situations and support effective decision-making. The four main types of data analysis are descriptive analysis, diagnostic analysis, predictive analysis, and prescriptive analysis. Each type serves a different purpose and helps organizations gain valuable insights from data.</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Descriptive analysis focuses on explaining what happened in the past by summarizing historical data. It uses reports, charts, dashboards, and performance metrics to provide a clear understanding of business activities and trends. For example, a monthly sales report showing total revenue and product performance is a form of descriptive analysis.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Diagnostic analysis is used to identify why something happened. It examines data in detail to find the causes of problems, trends, or business outcomes.</a:t>
            </a: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CAE20BD0-92EA-8817-14F4-B1F8B24CD687}"/>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44</a:t>
            </a:fld>
            <a:endParaRPr lang="en-US" dirty="0"/>
          </a:p>
        </p:txBody>
      </p:sp>
    </p:spTree>
    <p:extLst>
      <p:ext uri="{BB962C8B-B14F-4D97-AF65-F5344CB8AC3E}">
        <p14:creationId xmlns:p14="http://schemas.microsoft.com/office/powerpoint/2010/main" val="24473106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D09F7-5B33-F4E8-EC36-FDC1047C61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00AE1F-344C-8BE3-F584-AB4F5E621414}"/>
              </a:ext>
            </a:extLst>
          </p:cNvPr>
          <p:cNvSpPr>
            <a:spLocks noGrp="1"/>
          </p:cNvSpPr>
          <p:nvPr>
            <p:ph sz="quarter" idx="13"/>
          </p:nvPr>
        </p:nvSpPr>
        <p:spPr>
          <a:xfrm>
            <a:off x="1701053" y="923366"/>
            <a:ext cx="8464923" cy="4778188"/>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Benefits of Data-Driven Decision Making</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Data-driven decision making (DDDM) offers several important benefits to organizations by helping them make accurate, informed, and reliable decisions based on data analysis rather than assumptions or guesswork. One of the major benefits of DDDM is improved business accuracy and efficiency. Organizations can analyze real-time and historical data to understand business performance, customer behavior, and market trends more effectively, which helps reduce errors and improve productivity.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DDDM also helps businesses identify new opportunities and reduce operational costs. By analyzing business processes and performance data, organizations can find areas where resources are being wasted and improve operational efficiency. Data analysis helps companies optimize processes, manage resources better, and make cost-effective decisions that improve profitability.</a:t>
            </a:r>
            <a:r>
              <a:rPr lang="en-US" sz="9600" dirty="0"/>
              <a:t> </a:t>
            </a:r>
            <a:r>
              <a:rPr lang="en-US" sz="9600" cap="none" dirty="0">
                <a:latin typeface="Aparajita" panose="02020603050405020304" pitchFamily="18" charset="0"/>
                <a:cs typeface="Aparajita" panose="02020603050405020304" pitchFamily="18" charset="0"/>
              </a:rPr>
              <a:t>Another important benefit of DDDM is that it supports innovation and continuous improvement.</a:t>
            </a: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84554A30-C2D0-30AA-1748-802F6007986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45</a:t>
            </a:fld>
            <a:endParaRPr lang="en-US" dirty="0"/>
          </a:p>
        </p:txBody>
      </p:sp>
    </p:spTree>
    <p:extLst>
      <p:ext uri="{BB962C8B-B14F-4D97-AF65-F5344CB8AC3E}">
        <p14:creationId xmlns:p14="http://schemas.microsoft.com/office/powerpoint/2010/main" val="18491827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85A03-6E03-0106-BF9D-C850F12727A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175B3A-1E6B-22A6-A6B2-6162A1CAD19E}"/>
              </a:ext>
            </a:extLst>
          </p:cNvPr>
          <p:cNvSpPr>
            <a:spLocks noGrp="1"/>
          </p:cNvSpPr>
          <p:nvPr>
            <p:ph sz="quarter" idx="13"/>
          </p:nvPr>
        </p:nvSpPr>
        <p:spPr>
          <a:xfrm>
            <a:off x="1701053" y="923366"/>
            <a:ext cx="8464923" cy="4778188"/>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Real-Life Applications of Data-Driven Decision Making</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Data-driven decision making (DDDM) is widely used in many industries to improve efficiency, accuracy, customer service, and business performance. Organizations use data analysis to make informed decisions, identify trends, reduce risks, and improve operational processes. The practical applications of DDDM can be seen in industries such as healthcare, banking, retail, and e-commerce.</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In the healthcare industry, hospitals and medical organizations use data to improve patient care, monitor health conditions, and predict diseases. Patient records, medical reports, and health data are analyzed to identify treatment patterns, improve diagnosis accuracy, and support preventive healthcare measures. Data analytics also helps hospitals manage resources and improve healthcare services.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In the banking and financial sector, organizations use customer and transaction data to detect fraud, manage risks, and improve financial services</a:t>
            </a:r>
            <a:r>
              <a:rPr lang="en-US" sz="9600" dirty="0"/>
              <a:t>.</a:t>
            </a: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E52F9563-A6B7-BDDB-F4C5-4A6B0483BEB2}"/>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46</a:t>
            </a:fld>
            <a:endParaRPr lang="en-US" dirty="0"/>
          </a:p>
        </p:txBody>
      </p:sp>
    </p:spTree>
    <p:extLst>
      <p:ext uri="{BB962C8B-B14F-4D97-AF65-F5344CB8AC3E}">
        <p14:creationId xmlns:p14="http://schemas.microsoft.com/office/powerpoint/2010/main" val="25866275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A47B6-E60E-8EF8-0562-E69693AF3D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ECF2FA-4639-4825-C965-B459D208CC8A}"/>
              </a:ext>
            </a:extLst>
          </p:cNvPr>
          <p:cNvSpPr>
            <a:spLocks noGrp="1"/>
          </p:cNvSpPr>
          <p:nvPr>
            <p:ph sz="quarter" idx="13"/>
          </p:nvPr>
        </p:nvSpPr>
        <p:spPr>
          <a:xfrm>
            <a:off x="1701053" y="1021976"/>
            <a:ext cx="8464923" cy="4724400"/>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chemeClr val="accent2"/>
                </a:solidFill>
                <a:latin typeface="Aparajita" panose="02020603050405020304" pitchFamily="18" charset="0"/>
                <a:cs typeface="Aparajita" panose="02020603050405020304" pitchFamily="18" charset="0"/>
              </a:rPr>
              <a:t>Challenges in Data-Driven Decision Making</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Organizations face several challenges while implementing data-driven decision making (DDDM). One of the major challenges is poor data quality. Inaccurate, incomplete, outdated, or inconsistent data can lead to incorrect analysis and poor business decisions. Organizations must ensure that the data collected is accurate, reliable, and properly maintained to achieve effective results from data analysis.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Another important challenge is the lack of technical skills and expertise. Effective use of DDDM requires knowledge of data analysis, databases, business intelligence tools, and analytical technologies. Some organizations may not have skilled employees or data professionals who can process and interpret data correctly. This can reduce the effectiveness of decision-making processes. Data integration is also a major issue because organizations collect data from multiple sources such as databases, websites, social media platforms, and business systems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405D7664-1761-2004-0E4D-0BC77AC49E6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47</a:t>
            </a:fld>
            <a:endParaRPr lang="en-US" dirty="0"/>
          </a:p>
        </p:txBody>
      </p:sp>
    </p:spTree>
    <p:extLst>
      <p:ext uri="{BB962C8B-B14F-4D97-AF65-F5344CB8AC3E}">
        <p14:creationId xmlns:p14="http://schemas.microsoft.com/office/powerpoint/2010/main" val="16368037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213CF-65FB-5B9E-5D8C-B8067617C0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3404D0-4037-347E-2126-5B1B5BC9DEC0}"/>
              </a:ext>
            </a:extLst>
          </p:cNvPr>
          <p:cNvSpPr>
            <a:spLocks noGrp="1"/>
          </p:cNvSpPr>
          <p:nvPr>
            <p:ph sz="quarter" idx="13"/>
          </p:nvPr>
        </p:nvSpPr>
        <p:spPr>
          <a:xfrm>
            <a:off x="1701053" y="1021976"/>
            <a:ext cx="8464923" cy="4724400"/>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Pitfalls of Data-Driven Decision Making</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Although data-driven decision making (DDDM) provides many advantages, it also has certain risks and pitfalls that organizations must manage carefully. One of the major problems is the use of incorrect, incomplete, or biased data. If the data used for analysis is inaccurate or unreliable, the conclusions and decisions based on that data may also be wrong. Poor-quality data can lead to financial losses, operational problems, and incorrect business strategies.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Another important pitfall is over-reliance on data. While data analysis is valuable, depending completely on data may cause organizations to ignore human judgment, creativity, intuition, and experience. Some business situations require critical thinking, innovation, and understanding of human behavior, which cannot always be fully explained through data alone.</a:t>
            </a:r>
            <a:r>
              <a:rPr lang="en-US" sz="9600" dirty="0"/>
              <a:t> </a:t>
            </a:r>
            <a:r>
              <a:rPr lang="en-US" sz="9600" cap="none" dirty="0">
                <a:latin typeface="Aparajita" panose="02020603050405020304" pitchFamily="18" charset="0"/>
                <a:cs typeface="Aparajita" panose="02020603050405020304" pitchFamily="18" charset="0"/>
              </a:rPr>
              <a:t>Misinterpretation of data is also a common issue in DDDM. If data is analyzed incorrectly or if analytical results are misunderstood, organizations may make poor business decisions.</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4A0417E0-E505-8109-ACEE-DE6779667E28}"/>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48</a:t>
            </a:fld>
            <a:endParaRPr lang="en-US" dirty="0"/>
          </a:p>
        </p:txBody>
      </p:sp>
    </p:spTree>
    <p:extLst>
      <p:ext uri="{BB962C8B-B14F-4D97-AF65-F5344CB8AC3E}">
        <p14:creationId xmlns:p14="http://schemas.microsoft.com/office/powerpoint/2010/main" val="9174038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0E894-D76A-5E68-9B17-C08594A039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D87C84-CC56-6317-C4B7-F6AF34782B0C}"/>
              </a:ext>
            </a:extLst>
          </p:cNvPr>
          <p:cNvSpPr>
            <a:spLocks noGrp="1"/>
          </p:cNvSpPr>
          <p:nvPr>
            <p:ph sz="quarter" idx="13"/>
          </p:nvPr>
        </p:nvSpPr>
        <p:spPr>
          <a:xfrm>
            <a:off x="1701053" y="1021976"/>
            <a:ext cx="8464923" cy="4724400"/>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Role of Technology in Data-Driven Decision Making</a:t>
            </a:r>
            <a:br>
              <a:rPr lang="en-US" sz="9600"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Technology plays a crucial role in data-driven decision making (DDDM) by helping organizations collect, process, analyze, and interpret large amounts of data quickly and accurately. In modern businesses, huge volumes of data are generated every day, and advanced technologies make it possible to convert this raw data into meaningful information that supports effective decision-making.</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Business intelligence (bi) systems are widely used to organize and analyze data from different sources. These systems help organizations generate reports, identify trends, monitor performance, and support strategic planning. Analytics software allows businesses to perform detailed data analysis and gain insights into customer behavior, market trends, and operational efficiency.</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Advanced technologies such as artificial intelligence (AI) and machine learning further improve DDDM by automatically analyzing complex data, identifying patterns, and making predictions.</a:t>
            </a:r>
          </a:p>
          <a:p>
            <a:pPr marL="0" indent="0">
              <a:buNone/>
            </a:pP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455EDC41-B572-0D07-98A4-FEC196E696FC}"/>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49</a:t>
            </a:fld>
            <a:endParaRPr lang="en-US" dirty="0"/>
          </a:p>
        </p:txBody>
      </p:sp>
    </p:spTree>
    <p:extLst>
      <p:ext uri="{BB962C8B-B14F-4D97-AF65-F5344CB8AC3E}">
        <p14:creationId xmlns:p14="http://schemas.microsoft.com/office/powerpoint/2010/main" val="40321572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DF53A-B769-7B76-5495-84CD4A4092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C2F992-E40C-3D62-372E-D8D823150F50}"/>
              </a:ext>
            </a:extLst>
          </p:cNvPr>
          <p:cNvSpPr>
            <a:spLocks noGrp="1"/>
          </p:cNvSpPr>
          <p:nvPr>
            <p:ph sz="quarter" idx="13"/>
          </p:nvPr>
        </p:nvSpPr>
        <p:spPr>
          <a:xfrm>
            <a:off x="1701053" y="1147482"/>
            <a:ext cx="8464923" cy="4598894"/>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Ethical Considerations in Data-Driven Decision Making</a:t>
            </a:r>
            <a:br>
              <a:rPr lang="en-US" sz="9600"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Organizations must ensure that data is collected, stored, processed, and used in an ethical and responsible manner. In data-driven decision making (DDDM), ethical considerations are very important because businesses often handle large amounts of customer and organizational data. One of the major ethical concerns is customer privacy. Organizations must protect personal and sensitive information from unauthorized access, misuse, or data breaches.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Customer consent is another important consideration in ethical data practices. Businesses should clearly inform users about what data is being collected, why it is being collected, and how it will be used. Organizations should obtain proper permission before collecting or sharing personal information. Transparency in data collection and usage helps build trust between businesses and customers.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6000" cap="none" dirty="0">
                <a:solidFill>
                  <a:srgbClr val="7030A0"/>
                </a:solidFill>
                <a:latin typeface="Aparajita" panose="02020603050405020304" pitchFamily="18" charset="0"/>
                <a:cs typeface="Aparajita" panose="02020603050405020304" pitchFamily="18" charset="0"/>
              </a:rPr>
            </a:br>
            <a:r>
              <a:rPr lang="en-US" sz="6000" cap="none" dirty="0">
                <a:solidFill>
                  <a:srgbClr val="7030A0"/>
                </a:solidFill>
                <a:latin typeface="Aparajita" panose="02020603050405020304" pitchFamily="18" charset="0"/>
                <a:cs typeface="Aparajita" panose="02020603050405020304" pitchFamily="18" charset="0"/>
              </a:rPr>
              <a:t> </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56A3EB2B-6510-60A7-A777-05ED3B46E96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50</a:t>
            </a:fld>
            <a:endParaRPr lang="en-US" dirty="0"/>
          </a:p>
        </p:txBody>
      </p:sp>
    </p:spTree>
    <p:extLst>
      <p:ext uri="{BB962C8B-B14F-4D97-AF65-F5344CB8AC3E}">
        <p14:creationId xmlns:p14="http://schemas.microsoft.com/office/powerpoint/2010/main" val="2333842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C7653-228C-0785-C6E9-0B8D669D4C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2F5E03-091F-4002-BE93-B7F90F9AF56D}"/>
              </a:ext>
            </a:extLst>
          </p:cNvPr>
          <p:cNvSpPr>
            <a:spLocks noGrp="1"/>
          </p:cNvSpPr>
          <p:nvPr>
            <p:ph sz="quarter" idx="13"/>
          </p:nvPr>
        </p:nvSpPr>
        <p:spPr>
          <a:xfrm>
            <a:off x="1701053" y="1021976"/>
            <a:ext cx="8464923" cy="4724400"/>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Future of Data-Driven Decision Making</a:t>
            </a:r>
            <a:br>
              <a:rPr lang="en-US" sz="6000" cap="none" dirty="0">
                <a:solidFill>
                  <a:srgbClr val="7030A0"/>
                </a:solidFill>
                <a:latin typeface="Aparajita" panose="02020603050405020304" pitchFamily="18" charset="0"/>
                <a:cs typeface="Aparajita" panose="02020603050405020304" pitchFamily="18" charset="0"/>
              </a:rPr>
            </a:br>
            <a:br>
              <a:rPr lang="en-US" sz="60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The future of data-driven decision making (DDDM) is strongly connected with advanced technologies such as artificial intelligence (AI), big data, machine learning, and automation. As organizations continue to generate and collect huge amounts of data, the importance of analyzing and using this data for decision-making is increasing rapidly. Modern businesses are moving toward intelligent systems that can process data automatically and provide faster, more accurate insights.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Artificial intelligence and machine learning are playing a major role in the future of DDDM. These technologies help organizations analyze complex data, identify patterns, predict future outcomes, and automate decision-making processes. Predictive analytics allows businesses to forecast customer behavior, market trends, sales performance, and operational risks more effectively, helping organizations make proactive decisions.</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0C5CADB3-0A3A-28CB-A6CC-0F1573F9372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51</a:t>
            </a:fld>
            <a:endParaRPr lang="en-US" dirty="0"/>
          </a:p>
        </p:txBody>
      </p:sp>
    </p:spTree>
    <p:extLst>
      <p:ext uri="{BB962C8B-B14F-4D97-AF65-F5344CB8AC3E}">
        <p14:creationId xmlns:p14="http://schemas.microsoft.com/office/powerpoint/2010/main" val="3403876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C11FF-0456-AD42-490F-51482C5984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2098E8-937F-3D5E-0FFD-F5CEE0398412}"/>
              </a:ext>
            </a:extLst>
          </p:cNvPr>
          <p:cNvSpPr>
            <a:spLocks noGrp="1"/>
          </p:cNvSpPr>
          <p:nvPr>
            <p:ph sz="quarter" idx="13"/>
          </p:nvPr>
        </p:nvSpPr>
        <p:spPr>
          <a:xfrm>
            <a:off x="1701053" y="1039905"/>
            <a:ext cx="8464923" cy="5065060"/>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Introduction to Case Discussions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74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Case discussions involve analyzing real-life business situations to understand problems, decisions, strategies, and outcomes. They are widely used in business education and organizations to help students, managers, and professionals apply theoretical knowledge to practical situations. Through case discussions, participants study actual business scenarios, identify challenges, evaluate decisions, and suggest possible solutions for improvement.</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Case discussions help organizations and learners understand how businesses respond to different situations such as market competition, operational problems, customer issues, technological changes, and management challenges. By examining real examples, participants can identify mistakes, evaluate successful strategies, and learn how better decisions can be made in the future.</a:t>
            </a:r>
            <a:r>
              <a:rPr lang="en-US" sz="9600" dirty="0"/>
              <a:t> </a:t>
            </a:r>
            <a:r>
              <a:rPr lang="en-US" sz="9600" cap="none" dirty="0">
                <a:latin typeface="Aparajita" panose="02020603050405020304" pitchFamily="18" charset="0"/>
                <a:cs typeface="Aparajita" panose="02020603050405020304" pitchFamily="18" charset="0"/>
              </a:rPr>
              <a:t>These discussions also improve important professional skills such as analytical thinking, critical thinking, communication, teamwork, and problem-solving abilities. Participants learn how to analyze information, evaluate alternatives, and present logical recommendations based on facts and evidence.</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8DE3B8A2-B8A2-DF2A-6540-54405D67991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52</a:t>
            </a:fld>
            <a:endParaRPr lang="en-US" dirty="0"/>
          </a:p>
        </p:txBody>
      </p:sp>
      <p:sp>
        <p:nvSpPr>
          <p:cNvPr id="2" name="Title 8">
            <a:extLst>
              <a:ext uri="{FF2B5EF4-FFF2-40B4-BE49-F238E27FC236}">
                <a16:creationId xmlns:a16="http://schemas.microsoft.com/office/drawing/2014/main" id="{EAB3F86D-4C43-EBE4-C5EA-2A7BF178C282}"/>
              </a:ext>
            </a:extLst>
          </p:cNvPr>
          <p:cNvSpPr>
            <a:spLocks noGrp="1"/>
          </p:cNvSpPr>
          <p:nvPr>
            <p:ph type="title"/>
          </p:nvPr>
        </p:nvSpPr>
        <p:spPr>
          <a:xfrm>
            <a:off x="2779058" y="412376"/>
            <a:ext cx="6956611" cy="528918"/>
          </a:xfrm>
        </p:spPr>
        <p:txBody>
          <a:bodyPr/>
          <a:lstStyle/>
          <a:p>
            <a:r>
              <a:rPr lang="en-US" dirty="0">
                <a:solidFill>
                  <a:schemeClr val="accent2"/>
                </a:solidFill>
                <a:latin typeface="Aparajita" panose="02020603050405020304" pitchFamily="18" charset="0"/>
                <a:cs typeface="Aparajita" panose="02020603050405020304" pitchFamily="18" charset="0"/>
              </a:rPr>
              <a:t>CASE DISCUSSIONS / REAL-LIFE EXAMPLES</a:t>
            </a:r>
          </a:p>
        </p:txBody>
      </p:sp>
    </p:spTree>
    <p:extLst>
      <p:ext uri="{BB962C8B-B14F-4D97-AF65-F5344CB8AC3E}">
        <p14:creationId xmlns:p14="http://schemas.microsoft.com/office/powerpoint/2010/main" val="32932140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7EBE-041B-6973-4C3C-A2DC013886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C92A48-F61E-7468-14F6-90B334F06D69}"/>
              </a:ext>
            </a:extLst>
          </p:cNvPr>
          <p:cNvSpPr>
            <a:spLocks noGrp="1"/>
          </p:cNvSpPr>
          <p:nvPr>
            <p:ph sz="quarter" idx="13"/>
          </p:nvPr>
        </p:nvSpPr>
        <p:spPr>
          <a:xfrm>
            <a:off x="1701053" y="905435"/>
            <a:ext cx="8464923" cy="5199530"/>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Understanding Scenario Analysis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74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Scenario analysis is a strategic planning technique used by organizations to evaluate possible future situations and their potential impact on business operations. It helps businesses prepare for uncertainty by analyzing different assumptions, conditions, and outcomes that may occur in the future. Instead of focusing on a single prediction, scenario analysis considers multiple possible scenarios to help organizations make flexible and informed decisions.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Businesses use scenario analysis to understand how changes in factors such as market conditions, economic trends, government policies, technology, competition, or customer behavior may affect organizational performance. For example, companies may create different scenarios based on economic growth, market decline, technological innovation, or changing customer demands to evaluate possible risks and opportunities.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Scenario analysis supports better strategic planning and risk management because it helps organizations identify potential challenges before they occur.</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65E3705B-C7DB-AD53-E510-87720BEEFE4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53</a:t>
            </a:fld>
            <a:endParaRPr lang="en-US" dirty="0"/>
          </a:p>
        </p:txBody>
      </p:sp>
    </p:spTree>
    <p:extLst>
      <p:ext uri="{BB962C8B-B14F-4D97-AF65-F5344CB8AC3E}">
        <p14:creationId xmlns:p14="http://schemas.microsoft.com/office/powerpoint/2010/main" val="23501086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4C658-14BF-957F-DFFA-3FD9331824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24C353-E02C-84D8-3AB8-D187DB5AAE66}"/>
              </a:ext>
            </a:extLst>
          </p:cNvPr>
          <p:cNvSpPr>
            <a:spLocks noGrp="1"/>
          </p:cNvSpPr>
          <p:nvPr>
            <p:ph sz="quarter" idx="13"/>
          </p:nvPr>
        </p:nvSpPr>
        <p:spPr>
          <a:xfrm>
            <a:off x="1701053" y="905435"/>
            <a:ext cx="8464923" cy="5199530"/>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Objectives and Importance of Scenario Analysis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74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The main objective of scenario analysis is to improve organizational decision-making under uncertain and changing conditions. It helps businesses evaluate different possible future situations and understand how these situations may affect operations, performance, and business strategies. Instead of relying on a single prediction, scenario analysis allows organizations to prepare for multiple outcomes and make more informed and flexible decisions.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One of the major objectives of scenario analysis is to identify potential risks and challenges that may arise in the future. By studying different scenarios, organizations can recognize possible threats such as economic changes, market competition, technological advancements, or customer behavior shifts. This helps businesses reduce uncertainty and develop effective risk management strategies.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Scenario analysis also helps organizations identify opportunities for growth and improvement. Businesses can evaluate how future market trends, innovations, or changes in customer preferences may create new business opportunities.</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362E4508-0929-926E-E6A9-4256AE845A1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54</a:t>
            </a:fld>
            <a:endParaRPr lang="en-US" dirty="0"/>
          </a:p>
        </p:txBody>
      </p:sp>
    </p:spTree>
    <p:extLst>
      <p:ext uri="{BB962C8B-B14F-4D97-AF65-F5344CB8AC3E}">
        <p14:creationId xmlns:p14="http://schemas.microsoft.com/office/powerpoint/2010/main" val="21552288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E2794-5422-0D51-95B4-EB6922C91B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003AB4-C839-1819-473F-657021B46338}"/>
              </a:ext>
            </a:extLst>
          </p:cNvPr>
          <p:cNvSpPr>
            <a:spLocks noGrp="1"/>
          </p:cNvSpPr>
          <p:nvPr>
            <p:ph sz="quarter" idx="13"/>
          </p:nvPr>
        </p:nvSpPr>
        <p:spPr>
          <a:xfrm>
            <a:off x="1863538" y="986117"/>
            <a:ext cx="8410015" cy="5118848"/>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Types of Scenarios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Scenario analysis commonly uses three main types of scenarios to evaluate possible future situations and support effective decision-making. These scenarios help organizations prepare for different outcomes and understand how various factors may affect business operations and strategies.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The first type is the </a:t>
            </a:r>
            <a:r>
              <a:rPr lang="en-US" sz="9600" b="1" cap="none" dirty="0">
                <a:latin typeface="Aparajita" panose="02020603050405020304" pitchFamily="18" charset="0"/>
                <a:cs typeface="Aparajita" panose="02020603050405020304" pitchFamily="18" charset="0"/>
              </a:rPr>
              <a:t>best-case scenario</a:t>
            </a:r>
            <a:r>
              <a:rPr lang="en-US" sz="9600" cap="none" dirty="0">
                <a:latin typeface="Aparajita" panose="02020603050405020304" pitchFamily="18" charset="0"/>
                <a:cs typeface="Aparajita" panose="02020603050405020304" pitchFamily="18" charset="0"/>
              </a:rPr>
              <a:t>, which represents the most positive and successful outcome. In this scenario, everything goes according to plan, market conditions remain favorable, customer demand increases, and business goals are achieved successfully. Organizations use the best-case scenario to identify growth opportunities, estimate maximum profits, and plan for expansion and success.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The second type is the </a:t>
            </a:r>
            <a:r>
              <a:rPr lang="en-US" sz="9600" b="1" cap="none" dirty="0">
                <a:latin typeface="Aparajita" panose="02020603050405020304" pitchFamily="18" charset="0"/>
                <a:cs typeface="Aparajita" panose="02020603050405020304" pitchFamily="18" charset="0"/>
              </a:rPr>
              <a:t>worst-case scenario</a:t>
            </a:r>
            <a:r>
              <a:rPr lang="en-US" sz="9600" cap="none" dirty="0">
                <a:latin typeface="Aparajita" panose="02020603050405020304" pitchFamily="18" charset="0"/>
                <a:cs typeface="Aparajita" panose="02020603050405020304" pitchFamily="18" charset="0"/>
              </a:rPr>
              <a:t>, which focuses on negative outcomes, risks, and potential challenges. This scenario considers situations such as economic downturns, financial losses, market decline, technological failures, or reduced customer demand.</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028E4AFC-3240-FEF4-3EE0-0FE2166837C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55</a:t>
            </a:fld>
            <a:endParaRPr lang="en-US" dirty="0"/>
          </a:p>
        </p:txBody>
      </p:sp>
    </p:spTree>
    <p:extLst>
      <p:ext uri="{BB962C8B-B14F-4D97-AF65-F5344CB8AC3E}">
        <p14:creationId xmlns:p14="http://schemas.microsoft.com/office/powerpoint/2010/main" val="11071709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862B2-1186-AD32-A42E-97E03CB037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749EAA-6C8A-C945-20B7-CC785F3A9A85}"/>
              </a:ext>
            </a:extLst>
          </p:cNvPr>
          <p:cNvSpPr>
            <a:spLocks noGrp="1"/>
          </p:cNvSpPr>
          <p:nvPr>
            <p:ph sz="quarter" idx="13"/>
          </p:nvPr>
        </p:nvSpPr>
        <p:spPr>
          <a:xfrm>
            <a:off x="1863538" y="986117"/>
            <a:ext cx="8418980" cy="5074024"/>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Steps in Scenario Analysis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Scenario analysis follows a structured process that helps organizations evaluate possible future situations and prepare effective strategies. The first step is identifying the business problem, objective, or decision that needs to be analyzed. Organizations clearly define what they want to achieve, such as improving profitability, managing risks, entering new markets, or responding to changing market conditions.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The next step is identifying key variables, factors, and uncertainties that may affect the business in the future. These factors may include economic conditions, customer behavior, market competition, technological changes, government policies, or industry trends. Understanding these uncertainties helps organizations focus on the most important factors influencing business performance.</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After identifying key variables, organizations create different scenarios based on possible future outcomes. Common scenarios include best-case, worst-case, and most likely situations.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6396BBF9-C58A-A534-6BD4-639631CE589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56</a:t>
            </a:fld>
            <a:endParaRPr lang="en-US" dirty="0"/>
          </a:p>
        </p:txBody>
      </p:sp>
    </p:spTree>
    <p:extLst>
      <p:ext uri="{BB962C8B-B14F-4D97-AF65-F5344CB8AC3E}">
        <p14:creationId xmlns:p14="http://schemas.microsoft.com/office/powerpoint/2010/main" val="33194273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52D0D-0BFD-1966-22E1-5EAAA3FF4F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01DB54-ADB7-852E-9364-D49BE950E433}"/>
              </a:ext>
            </a:extLst>
          </p:cNvPr>
          <p:cNvSpPr>
            <a:spLocks noGrp="1"/>
          </p:cNvSpPr>
          <p:nvPr>
            <p:ph sz="quarter" idx="13"/>
          </p:nvPr>
        </p:nvSpPr>
        <p:spPr>
          <a:xfrm>
            <a:off x="1863538" y="986116"/>
            <a:ext cx="8347262" cy="5154707"/>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Real-Life Examples of Scenario Analysis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Scenario analysis is widely used in different industries to improve planning, reduce risks, and support better decision-making. Organizations use this technique to evaluate possible future situations and prepare effective strategies for handling uncertainties and changes in the business environment.</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In the banking and financial sector, banks and financial institutions use scenario analysis to study changes in interest rates, inflation, economic conditions, and market trends. By analyzing different financial scenarios, banks can manage risks, protect investments, and prepare for possible economic crises or market fluctuations.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E-commerce companies use scenario analysis to predict customer demand, sales trends, and inventory requirements. Businesses analyze seasonal trends, customer behavior, and market conditions to ensure that products are available when needed. This helps companies improve inventory management, reduce shortages, and increase customer satisfaction.</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C7ECC7E0-2AF1-40F4-8908-49B7DE159F4C}"/>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57</a:t>
            </a:fld>
            <a:endParaRPr lang="en-US" dirty="0"/>
          </a:p>
        </p:txBody>
      </p:sp>
    </p:spTree>
    <p:extLst>
      <p:ext uri="{BB962C8B-B14F-4D97-AF65-F5344CB8AC3E}">
        <p14:creationId xmlns:p14="http://schemas.microsoft.com/office/powerpoint/2010/main" val="25305861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F095F-850E-CC1D-D7DD-D2B9E14F1B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108445-2A3A-4DA4-71E5-CEE28526B951}"/>
              </a:ext>
            </a:extLst>
          </p:cNvPr>
          <p:cNvSpPr>
            <a:spLocks noGrp="1"/>
          </p:cNvSpPr>
          <p:nvPr>
            <p:ph sz="quarter" idx="13"/>
          </p:nvPr>
        </p:nvSpPr>
        <p:spPr>
          <a:xfrm>
            <a:off x="1863538" y="986116"/>
            <a:ext cx="8347262" cy="5154707"/>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Benefits and Challenges of Case Discussions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Case discussions and scenario analysis provide several important benefits to organizations, students, and professionals. They improve critical thinking, analytical abilities, teamwork, communication, and problem-solving skills by encouraging participants to study real-life business situations and evaluate possible solutions. Through case discussions, organizations can identify risks, opportunities, strengths, and weaknesses before making important business decisions. These methods also support better strategic planning, forecasting, and decision-making by helping managers understand different business situations and possible outcomes.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Another major benefit is that case discussions provide practical learning experiences. Participants can apply theoretical concepts to real-world problems, which improves business understanding and decision-making abilities. Scenario analysis also helps organizations prepare for uncertainty by developing backup plans and alternative strategies for different future situations. This increases organizational flexibility and readiness to respond to changing market conditions.</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D4ADC557-536B-35C1-DA70-27CFE5858B6F}"/>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58</a:t>
            </a:fld>
            <a:endParaRPr lang="en-US" dirty="0"/>
          </a:p>
        </p:txBody>
      </p:sp>
    </p:spTree>
    <p:extLst>
      <p:ext uri="{BB962C8B-B14F-4D97-AF65-F5344CB8AC3E}">
        <p14:creationId xmlns:p14="http://schemas.microsoft.com/office/powerpoint/2010/main" val="7999525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0F1F3-A967-8A19-A049-8748944384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BBFF5A-F0DD-6217-B7C7-5BE1999B4CF0}"/>
              </a:ext>
            </a:extLst>
          </p:cNvPr>
          <p:cNvSpPr>
            <a:spLocks noGrp="1"/>
          </p:cNvSpPr>
          <p:nvPr>
            <p:ph sz="quarter" idx="13"/>
          </p:nvPr>
        </p:nvSpPr>
        <p:spPr>
          <a:xfrm>
            <a:off x="1863538" y="986117"/>
            <a:ext cx="8347262" cy="4893688"/>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Future Importance of Scenario Analysis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As businesses become more data-driven and technology-oriented, the importance of case discussions and scenario analysis continues to increase. Modern organizations operate in highly competitive and rapidly changing environments where market conditions, customer preferences, technologies, and economic factors can change quickly. Scenario analysis helps businesses prepare for these uncertainties by evaluating different possible future situations and developing effective strategies in advance.</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Organizations are increasingly using advanced technologies such as predictive analytics, artificial intelligence (ai), machine learning, and big data analytics to improve forecasting and decision-making processes. These technologies help businesses analyze large amounts of data, identify patterns, predict future trends, and evaluate potential risks and opportunities more accurately. As a result, scenario analysis is becoming more advanced, data-driven, and effective in supporting strategic planning.</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7CE514EA-88D2-6DC7-0C28-DE55236EF73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59</a:t>
            </a:fld>
            <a:endParaRPr lang="en-US" dirty="0"/>
          </a:p>
        </p:txBody>
      </p:sp>
    </p:spTree>
    <p:extLst>
      <p:ext uri="{BB962C8B-B14F-4D97-AF65-F5344CB8AC3E}">
        <p14:creationId xmlns:p14="http://schemas.microsoft.com/office/powerpoint/2010/main" val="17363335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00E89-7704-7C96-44D8-2E9B7F059C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7E83E2-47B9-B8A5-C476-CFBDE5564FAC}"/>
              </a:ext>
            </a:extLst>
          </p:cNvPr>
          <p:cNvSpPr>
            <a:spLocks noGrp="1"/>
          </p:cNvSpPr>
          <p:nvPr>
            <p:ph sz="quarter" idx="13"/>
          </p:nvPr>
        </p:nvSpPr>
        <p:spPr>
          <a:xfrm>
            <a:off x="1701053" y="1039905"/>
            <a:ext cx="8464923" cy="5065060"/>
          </a:xfrm>
        </p:spPr>
        <p:txBody>
          <a:bodyPr>
            <a:normAutofit fontScale="25000" lnSpcReduction="20000"/>
          </a:bodyPr>
          <a:lstStyle/>
          <a:p>
            <a:pPr marL="0" indent="0">
              <a:buNone/>
            </a:pPr>
            <a:br>
              <a:rPr lang="en-US" sz="9600"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Introduction to Data Governance</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74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governance refers to the process of managing and controlling the availability, quality, usability, security, and integrity of data within an organization. It involves creating rules, policies, standards, and procedures that ensure data is collected, stored, processed, and used properly throughout its lifecycle. Data governance helps organizations maintain accurate, consistent, and reliable data that can be used for effective decision-making and business operations.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In modern organizations, huge amounts of data are generated every day through transactions, websites, customer interactions, social media, and digital systems. Without proper management, this data may become inaccurate, duplicated, insecure, or difficult to use. Data governance provides a structured framework that defines who can access data, how data should be handled, and how data quality and security should be maintained.</a:t>
            </a:r>
            <a:r>
              <a:rPr lang="en-US" sz="9600" dirty="0"/>
              <a:t> </a:t>
            </a:r>
            <a:r>
              <a:rPr lang="en-US" sz="9600" cap="none" dirty="0">
                <a:latin typeface="Aparajita" panose="02020603050405020304" pitchFamily="18" charset="0"/>
                <a:cs typeface="Aparajita" panose="02020603050405020304" pitchFamily="18" charset="0"/>
              </a:rPr>
              <a:t>One of the main goals of data governance is to improve data quality and ensure that information remains accurate, complete, and consistent across the organization.</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CB5C57F0-5666-CBE0-099C-B8CBB610510B}"/>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60</a:t>
            </a:fld>
            <a:endParaRPr lang="en-US" dirty="0"/>
          </a:p>
        </p:txBody>
      </p:sp>
      <p:sp>
        <p:nvSpPr>
          <p:cNvPr id="2" name="Title 8">
            <a:extLst>
              <a:ext uri="{FF2B5EF4-FFF2-40B4-BE49-F238E27FC236}">
                <a16:creationId xmlns:a16="http://schemas.microsoft.com/office/drawing/2014/main" id="{963E534C-6CC6-FC9D-ECAB-AE65321111FC}"/>
              </a:ext>
            </a:extLst>
          </p:cNvPr>
          <p:cNvSpPr>
            <a:spLocks noGrp="1"/>
          </p:cNvSpPr>
          <p:nvPr>
            <p:ph type="title"/>
          </p:nvPr>
        </p:nvSpPr>
        <p:spPr>
          <a:xfrm>
            <a:off x="2209800" y="488576"/>
            <a:ext cx="9144000" cy="528918"/>
          </a:xfrm>
        </p:spPr>
        <p:txBody>
          <a:bodyPr/>
          <a:lstStyle/>
          <a:p>
            <a:r>
              <a:rPr lang="en-US" dirty="0">
                <a:solidFill>
                  <a:schemeClr val="accent2"/>
                </a:solidFill>
                <a:latin typeface="Aparajita" panose="02020603050405020304" pitchFamily="18" charset="0"/>
                <a:cs typeface="Aparajita" panose="02020603050405020304" pitchFamily="18" charset="0"/>
              </a:rPr>
              <a:t>INTRODUCTION TO DATA GOVERNANCE &amp; DATA ETHICS</a:t>
            </a:r>
          </a:p>
        </p:txBody>
      </p:sp>
    </p:spTree>
    <p:extLst>
      <p:ext uri="{BB962C8B-B14F-4D97-AF65-F5344CB8AC3E}">
        <p14:creationId xmlns:p14="http://schemas.microsoft.com/office/powerpoint/2010/main" val="9204098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8ED66-5218-97A4-F1ED-E7FFBD271F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7F3378-2EB2-2645-1159-784C7C2045C9}"/>
              </a:ext>
            </a:extLst>
          </p:cNvPr>
          <p:cNvSpPr>
            <a:spLocks noGrp="1"/>
          </p:cNvSpPr>
          <p:nvPr>
            <p:ph sz="quarter" idx="13"/>
          </p:nvPr>
        </p:nvSpPr>
        <p:spPr>
          <a:xfrm>
            <a:off x="1755962" y="1192306"/>
            <a:ext cx="8347262" cy="4893688"/>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Need for Data Governance</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In today’s digital world, organizations generate massive amounts of data every day through business operations, customer interactions, websites, social media platforms, online transactions, and digital systems. This data is extremely valuable because it supports business operations, analysis, planning, and decision-making. However, without proper management and control, data can become inaccurate, inconsistent, duplicated, outdated, or insecure, which may negatively affect business performance and decision-making.</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Data governance is needed to ensure that data remains accurate, reliable, consistent, and secure throughout its lifecycle. It helps organizations establish clear policies, standards, and procedures for collecting, storing, processing, sharing, and using data properly. With proper governance, organizations can reduce errors, avoid duplication of data, and maintain high data quality across different departments and systems.</a:t>
            </a:r>
          </a:p>
          <a:p>
            <a:pPr marL="0" indent="0">
              <a:buNone/>
            </a:pPr>
            <a:r>
              <a:rPr lang="en-US" sz="9600" cap="none" dirty="0">
                <a:latin typeface="Aparajita" panose="02020603050405020304" pitchFamily="18" charset="0"/>
                <a:cs typeface="Aparajita" panose="02020603050405020304" pitchFamily="18" charset="0"/>
              </a:rPr>
              <a:t>.</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E15179BA-A1F7-9049-FF14-387A8323172B}"/>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61</a:t>
            </a:fld>
            <a:endParaRPr lang="en-US" dirty="0"/>
          </a:p>
        </p:txBody>
      </p:sp>
    </p:spTree>
    <p:extLst>
      <p:ext uri="{BB962C8B-B14F-4D97-AF65-F5344CB8AC3E}">
        <p14:creationId xmlns:p14="http://schemas.microsoft.com/office/powerpoint/2010/main" val="41911132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77493-6500-E1BE-D572-CF19E56A48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63397E-7755-9D14-68DE-16DBC019F71C}"/>
              </a:ext>
            </a:extLst>
          </p:cNvPr>
          <p:cNvSpPr>
            <a:spLocks noGrp="1"/>
          </p:cNvSpPr>
          <p:nvPr>
            <p:ph sz="quarter" idx="13"/>
          </p:nvPr>
        </p:nvSpPr>
        <p:spPr>
          <a:xfrm>
            <a:off x="1755962" y="1192306"/>
            <a:ext cx="8347262" cy="4893688"/>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Objectives of Data Governance</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The main objective of data governance is to ensure that organizational data remains accurate, consistent, secure, reliable, and easily accessible whenever needed. Since businesses depend heavily on data for daily operations and decision-making, proper governance helps maintain high-quality information across the organization. Accurate and consistent data reduces confusion, improves communication between departments, and supports better business performance.</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Another important objective of data governance is to improve decision-making. Organizations use data to analyze business performance, understand customer behavior, identify trends, and plan future strategies. When data is properly managed and reliable, managers can make informed decisions based on accurate information rather than assumptions or incorrect data. Data governance also aims to reduce errors, duplication, and inconsistencies in data. By establishing clear rules, standards, and procedures for handling information, organizations can ensure that employees collect, store, process, and use data correctly.</a:t>
            </a:r>
          </a:p>
          <a:p>
            <a:pPr marL="0" indent="0">
              <a:buNone/>
            </a:pP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6B303880-F3B1-39EF-1FDA-36A3035DAB90}"/>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62</a:t>
            </a:fld>
            <a:endParaRPr lang="en-US" dirty="0"/>
          </a:p>
        </p:txBody>
      </p:sp>
    </p:spTree>
    <p:extLst>
      <p:ext uri="{BB962C8B-B14F-4D97-AF65-F5344CB8AC3E}">
        <p14:creationId xmlns:p14="http://schemas.microsoft.com/office/powerpoint/2010/main" val="26047835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7C6EA-ADB8-3279-A445-D0B912FF3A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21D264-22CD-6084-852B-3AE17D1CE0F1}"/>
              </a:ext>
            </a:extLst>
          </p:cNvPr>
          <p:cNvSpPr>
            <a:spLocks noGrp="1"/>
          </p:cNvSpPr>
          <p:nvPr>
            <p:ph sz="quarter" idx="13"/>
          </p:nvPr>
        </p:nvSpPr>
        <p:spPr>
          <a:xfrm>
            <a:off x="1755962" y="982155"/>
            <a:ext cx="8347262" cy="513177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Components of Data Governance</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governance consists of several important components that help organizations manage data effectively and maintain its quality, security, and reliability. These components work together to ensure that organizational data is properly controlled, protected, and used responsibly.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One of the main components of data governance is </a:t>
            </a:r>
            <a:r>
              <a:rPr lang="en-US" sz="9600" b="1" cap="none" dirty="0">
                <a:latin typeface="Aparajita" panose="02020603050405020304" pitchFamily="18" charset="0"/>
                <a:cs typeface="Aparajita" panose="02020603050405020304" pitchFamily="18" charset="0"/>
              </a:rPr>
              <a:t>data policies</a:t>
            </a:r>
            <a:r>
              <a:rPr lang="en-US" sz="9600" cap="none" dirty="0">
                <a:latin typeface="Aparajita" panose="02020603050405020304" pitchFamily="18" charset="0"/>
                <a:cs typeface="Aparajita" panose="02020603050405020304" pitchFamily="18" charset="0"/>
              </a:rPr>
              <a:t>. Data policies define the rules, standards, and guidelines for collecting, storing, processing, sharing, and using data within the organization. These policies help employees understand how data should be handled and ensure consistency in data management practices.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Another important component is </a:t>
            </a:r>
            <a:r>
              <a:rPr lang="en-US" sz="9600" b="1" cap="none" dirty="0">
                <a:latin typeface="Aparajita" panose="02020603050405020304" pitchFamily="18" charset="0"/>
                <a:cs typeface="Aparajita" panose="02020603050405020304" pitchFamily="18" charset="0"/>
              </a:rPr>
              <a:t>data quality management</a:t>
            </a:r>
            <a:r>
              <a:rPr lang="en-US" sz="9600" cap="none" dirty="0">
                <a:latin typeface="Aparajita" panose="02020603050405020304" pitchFamily="18" charset="0"/>
                <a:cs typeface="Aparajita" panose="02020603050405020304" pitchFamily="18" charset="0"/>
              </a:rPr>
              <a:t>. This process ensures that data remains accurate, complete, consistent, reliable, and up to date. Organizations use data quality management techniques to identify and correct errors, remove duplicate data, and maintain high-quality information for analysis and decision-making.</a:t>
            </a:r>
          </a:p>
          <a:p>
            <a:pPr marL="0" indent="0">
              <a:buNone/>
            </a:pP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2B999631-2209-CB7B-9B76-07FB1F76897D}"/>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63</a:t>
            </a:fld>
            <a:endParaRPr lang="en-US" dirty="0"/>
          </a:p>
        </p:txBody>
      </p:sp>
    </p:spTree>
    <p:extLst>
      <p:ext uri="{BB962C8B-B14F-4D97-AF65-F5344CB8AC3E}">
        <p14:creationId xmlns:p14="http://schemas.microsoft.com/office/powerpoint/2010/main" val="27527000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FEDFE-FB34-01D6-390D-D6DDA30676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B5658-E245-122E-16CF-391F5FB5F40F}"/>
              </a:ext>
            </a:extLst>
          </p:cNvPr>
          <p:cNvSpPr>
            <a:spLocks noGrp="1"/>
          </p:cNvSpPr>
          <p:nvPr>
            <p:ph sz="quarter" idx="13"/>
          </p:nvPr>
        </p:nvSpPr>
        <p:spPr>
          <a:xfrm>
            <a:off x="1755962" y="982155"/>
            <a:ext cx="8347262" cy="5060057"/>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Data Governance Policies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governance policies are formal rules and guidelines created by organizations to manage and control how data is collected, stored, accessed, shared, used, and deleted. These policies provide a clear framework for handling organizational data responsibly, securely, and consistently across different departments and systems. Since modern organizations depend heavily on data for business operations and decision-making, governance policies help ensure that information is managed properly throughout its lifecycle.</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One of the main purposes of data governance policies is to help employees understand their responsibilities while handling data. These policies define who can access specific information, how data should be used, and what security measures must be followed to protect sensitive information. This helps organizations maintain confidentiality, integrity, and availability of data. Data governance policies also reduce confusion and inconsistencies by creating standard procedures for data management. </a:t>
            </a:r>
          </a:p>
          <a:p>
            <a:pPr marL="0" indent="0">
              <a:buNone/>
            </a:pPr>
            <a:r>
              <a:rPr lang="en-US" sz="9600" cap="none" dirty="0">
                <a:latin typeface="Aparajita" panose="02020603050405020304" pitchFamily="18" charset="0"/>
                <a:cs typeface="Aparajita" panose="02020603050405020304" pitchFamily="18" charset="0"/>
              </a:rPr>
              <a:t>.</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1668758F-2339-0551-51D6-78D30037F5DE}"/>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64</a:t>
            </a:fld>
            <a:endParaRPr lang="en-US" dirty="0"/>
          </a:p>
        </p:txBody>
      </p:sp>
    </p:spTree>
    <p:extLst>
      <p:ext uri="{BB962C8B-B14F-4D97-AF65-F5344CB8AC3E}">
        <p14:creationId xmlns:p14="http://schemas.microsoft.com/office/powerpoint/2010/main" val="32135437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AA690-34EA-82F5-0029-0CFE0FBD48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1FA780-9AF4-408F-A63C-54ED9536B49B}"/>
              </a:ext>
            </a:extLst>
          </p:cNvPr>
          <p:cNvSpPr>
            <a:spLocks noGrp="1"/>
          </p:cNvSpPr>
          <p:nvPr>
            <p:ph sz="quarter" idx="13"/>
          </p:nvPr>
        </p:nvSpPr>
        <p:spPr>
          <a:xfrm>
            <a:off x="1755962" y="982156"/>
            <a:ext cx="8347262" cy="4800080"/>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Data Quality Management</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quality management is the process of ensuring that organizational data remains accurate, complete, consistent, reliable, and up to date throughout its lifecycle. Since businesses depend heavily on data for analysis, reporting, planning, and decision-making, maintaining high-quality data is extremely important for effective business operations and organizational success.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Poor-quality data can create serious problems for organizations. Inaccurate, incomplete, duplicated, or outdated data may lead to incorrect analysis, poor decision-making, operational inefficiencies, financial losses, and reduced customer trust. Therefore, organizations must continuously monitor and improve data quality to ensure that information is useful and reliable. Organizations use several techniques and tools to maintain high-quality data. Validation rules help ensure that only correct and properly formatted data is entered into systems. </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 </a:t>
            </a:r>
          </a:p>
          <a:p>
            <a:pPr marL="0" indent="0">
              <a:buNone/>
            </a:pPr>
            <a:r>
              <a:rPr lang="en-US" sz="9600" cap="none" dirty="0">
                <a:latin typeface="Aparajita" panose="02020603050405020304" pitchFamily="18" charset="0"/>
                <a:cs typeface="Aparajita" panose="02020603050405020304" pitchFamily="18" charset="0"/>
              </a:rPr>
              <a:t>.</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17683B7B-B552-B462-2D7A-4C33BD8244A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65</a:t>
            </a:fld>
            <a:endParaRPr lang="en-US" dirty="0"/>
          </a:p>
        </p:txBody>
      </p:sp>
    </p:spTree>
    <p:extLst>
      <p:ext uri="{BB962C8B-B14F-4D97-AF65-F5344CB8AC3E}">
        <p14:creationId xmlns:p14="http://schemas.microsoft.com/office/powerpoint/2010/main" val="17944234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FF61-E85C-BB31-9EF2-A478F572FD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A39B18-26BB-ED67-4B0C-4ADFCA6AA051}"/>
              </a:ext>
            </a:extLst>
          </p:cNvPr>
          <p:cNvSpPr>
            <a:spLocks noGrp="1"/>
          </p:cNvSpPr>
          <p:nvPr>
            <p:ph sz="quarter" idx="13"/>
          </p:nvPr>
        </p:nvSpPr>
        <p:spPr>
          <a:xfrm>
            <a:off x="1755962" y="982156"/>
            <a:ext cx="8347262" cy="4800080"/>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Data Security and Protection</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security and protection are important parts of data governance because organizations store large amounts of sensitive information such as customer details, financial records, employee data, business documents, and confidential information. Protecting this data is essential to maintain privacy, trust, and smooth business operations. Without proper security measures, organizations may face cyberattacks, data breaches, financial losses, and damage to their reputation.</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Organizations use various security measures to protect data from unauthorized access, theft, misuse, and cyber threats. One common method is encryption, which converts data into a secure coded format that can only be accessed by authorized users. Firewalls are also used to protect computer networks and systems from malicious attacks and unauthorized traffic. Authentication systems such as passwords, biometric verification, and multi-factor authentication help ensure that only authorized individuals can access sensitive information</a:t>
            </a:r>
          </a:p>
          <a:p>
            <a:pPr marL="0" indent="0">
              <a:buNone/>
            </a:pPr>
            <a:r>
              <a:rPr lang="en-US" sz="9600" cap="none" dirty="0">
                <a:latin typeface="Aparajita" panose="02020603050405020304" pitchFamily="18" charset="0"/>
                <a:cs typeface="Aparajita" panose="02020603050405020304" pitchFamily="18" charset="0"/>
              </a:rPr>
              <a:t> </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 </a:t>
            </a:r>
          </a:p>
          <a:p>
            <a:pPr marL="0" indent="0">
              <a:buNone/>
            </a:pPr>
            <a:r>
              <a:rPr lang="en-US" sz="9600" cap="none" dirty="0">
                <a:latin typeface="Aparajita" panose="02020603050405020304" pitchFamily="18" charset="0"/>
                <a:cs typeface="Aparajita" panose="02020603050405020304" pitchFamily="18" charset="0"/>
              </a:rPr>
              <a:t>.</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2E3D88CD-8992-A451-0B11-B5DAC6E7D443}"/>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66</a:t>
            </a:fld>
            <a:endParaRPr lang="en-US" dirty="0"/>
          </a:p>
        </p:txBody>
      </p:sp>
    </p:spTree>
    <p:extLst>
      <p:ext uri="{BB962C8B-B14F-4D97-AF65-F5344CB8AC3E}">
        <p14:creationId xmlns:p14="http://schemas.microsoft.com/office/powerpoint/2010/main" val="38531170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540F2-4E5F-93B8-D370-F62C315746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8EBEAE-29EA-F0B4-891D-7F7FE88841BE}"/>
              </a:ext>
            </a:extLst>
          </p:cNvPr>
          <p:cNvSpPr>
            <a:spLocks noGrp="1"/>
          </p:cNvSpPr>
          <p:nvPr>
            <p:ph sz="quarter" idx="13"/>
          </p:nvPr>
        </p:nvSpPr>
        <p:spPr>
          <a:xfrm>
            <a:off x="1755962" y="982156"/>
            <a:ext cx="8347262" cy="4549068"/>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Role of Data Stewardship</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stewardship refers to the management, supervision, and oversight of organizational data to ensure that it is accurate, consistent, secure, and properly maintained. Data stewards are individuals or teams responsible for managing data according to organizational governance policies, standards, and procedures. Their main role is to ensure that data is handled responsibly and remains reliable and useful for business operations and decision-making.</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One of the key responsibilities of data stewards is maintaining data quality and consistency across different systems and departments. They monitor data usage, identify errors, remove duplicate records, and resolve inconsistencies to ensure that information remains accurate and up to date. This helps organizations improve trust in their data and avoid problems caused by incorrect or poor-quality information.</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 </a:t>
            </a:r>
          </a:p>
          <a:p>
            <a:pPr marL="0" indent="0">
              <a:buNone/>
            </a:pPr>
            <a:r>
              <a:rPr lang="en-US" sz="9600" cap="none" dirty="0">
                <a:latin typeface="Aparajita" panose="02020603050405020304" pitchFamily="18" charset="0"/>
                <a:cs typeface="Aparajita" panose="02020603050405020304" pitchFamily="18" charset="0"/>
              </a:rPr>
              <a:t>.</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898C494D-7A61-26F2-E004-81553363C578}"/>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67</a:t>
            </a:fld>
            <a:endParaRPr lang="en-US" dirty="0"/>
          </a:p>
        </p:txBody>
      </p:sp>
    </p:spTree>
    <p:extLst>
      <p:ext uri="{BB962C8B-B14F-4D97-AF65-F5344CB8AC3E}">
        <p14:creationId xmlns:p14="http://schemas.microsoft.com/office/powerpoint/2010/main" val="42938509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6878F-88D2-0BFA-1AFE-21F70AD012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B616AC-EAED-2214-0B5D-CD10162BC6FD}"/>
              </a:ext>
            </a:extLst>
          </p:cNvPr>
          <p:cNvSpPr>
            <a:spLocks noGrp="1"/>
          </p:cNvSpPr>
          <p:nvPr>
            <p:ph sz="quarter" idx="13"/>
          </p:nvPr>
        </p:nvSpPr>
        <p:spPr>
          <a:xfrm>
            <a:off x="1755962" y="1154466"/>
            <a:ext cx="8347262" cy="4549068"/>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Benefits of Data Governance</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governance provides several important benefits to organizations by helping them manage data effectively, securely, and consistently. One of the major benefits of data governance is improved data quality. Governance policies and standards ensure that data remains accurate, complete, reliable, and up to date. High-quality data helps organizations perform better analysis, improve reporting, and make accurate business decisions.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Another important benefit is enhanced data security and protection. Organizations store sensitive customer, employee, and financial information that must be protected from unauthorized access, cyberattacks, and data breaches. Data governance helps implement security measures such as encryption, access controls, authentication systems, and monitoring tools to ensure safe handling of information.</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a:p>
            <a:pPr marL="0" indent="0">
              <a:buNone/>
            </a:pPr>
            <a:r>
              <a:rPr lang="en-US" sz="9600" cap="none" dirty="0">
                <a:latin typeface="Aparajita" panose="02020603050405020304" pitchFamily="18" charset="0"/>
                <a:cs typeface="Aparajita" panose="02020603050405020304" pitchFamily="18" charset="0"/>
              </a:rPr>
              <a:t> </a:t>
            </a:r>
          </a:p>
          <a:p>
            <a:pPr marL="0" indent="0">
              <a:buNone/>
            </a:pPr>
            <a:r>
              <a:rPr lang="en-US" sz="9600" cap="none" dirty="0">
                <a:latin typeface="Aparajita" panose="02020603050405020304" pitchFamily="18" charset="0"/>
                <a:cs typeface="Aparajita" panose="02020603050405020304" pitchFamily="18" charset="0"/>
              </a:rPr>
              <a:t>.</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A4BBC95D-A42C-0F1D-F385-E5FA3F13F85E}"/>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68</a:t>
            </a:fld>
            <a:endParaRPr lang="en-US" dirty="0"/>
          </a:p>
        </p:txBody>
      </p:sp>
    </p:spTree>
    <p:extLst>
      <p:ext uri="{BB962C8B-B14F-4D97-AF65-F5344CB8AC3E}">
        <p14:creationId xmlns:p14="http://schemas.microsoft.com/office/powerpoint/2010/main" val="15829414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DE80B-DA0B-98F8-7B53-7717E00539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E2A2A7-3D28-1B09-600B-4EA2865F6E42}"/>
              </a:ext>
            </a:extLst>
          </p:cNvPr>
          <p:cNvSpPr>
            <a:spLocks noGrp="1"/>
          </p:cNvSpPr>
          <p:nvPr>
            <p:ph sz="quarter" idx="13"/>
          </p:nvPr>
        </p:nvSpPr>
        <p:spPr>
          <a:xfrm>
            <a:off x="1782856" y="908926"/>
            <a:ext cx="8347262" cy="5366367"/>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Challenges in Data Governance</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Organizations face several challenges while implementing data governance effectively. One of the major challenges is the lack of awareness and understanding about the importance of data governance among employees and management. Some organizations may not fully understand the value of maintaining proper data quality, security, and governance standards, which can reduce the effectiveness of governance initiatives.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Resistance to change is another common challenge. Employees and departments may be unwilling to adopt new policies, procedures, or technologies because they are comfortable with existing systems and practices. This resistance can slow down the implementation of governance frameworks and reduce organizational cooperation.</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Limited resources such as budget constraints, lack of skilled professionals, and insufficient technological infrastructure also create difficulties in implementing data governance. Organizations may struggle to invest in advanced tools, security systems, and training programs required for effective data management and governance.</a:t>
            </a:r>
          </a:p>
          <a:p>
            <a:pPr marL="0" indent="0">
              <a:buNone/>
            </a:pPr>
            <a:r>
              <a:rPr lang="en-US" sz="9600" cap="none" dirty="0">
                <a:latin typeface="Aparajita" panose="02020603050405020304" pitchFamily="18" charset="0"/>
                <a:cs typeface="Aparajita" panose="02020603050405020304" pitchFamily="18" charset="0"/>
              </a:rPr>
              <a:t> </a:t>
            </a:r>
          </a:p>
          <a:p>
            <a:pPr marL="0" indent="0">
              <a:buNone/>
            </a:pPr>
            <a:r>
              <a:rPr lang="en-US" sz="9600" cap="none" dirty="0">
                <a:latin typeface="Aparajita" panose="02020603050405020304" pitchFamily="18" charset="0"/>
                <a:cs typeface="Aparajita" panose="02020603050405020304" pitchFamily="18" charset="0"/>
              </a:rPr>
              <a:t>.</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42BEB04C-CAD3-8F26-7E48-AF92DE1A34EB}"/>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69</a:t>
            </a:fld>
            <a:endParaRPr lang="en-US" dirty="0"/>
          </a:p>
        </p:txBody>
      </p:sp>
    </p:spTree>
    <p:extLst>
      <p:ext uri="{BB962C8B-B14F-4D97-AF65-F5344CB8AC3E}">
        <p14:creationId xmlns:p14="http://schemas.microsoft.com/office/powerpoint/2010/main" val="18363093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5CA16-8C6C-D83D-E282-A2E396E482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E43A67-29AF-0540-3E52-7C9C11203F81}"/>
              </a:ext>
            </a:extLst>
          </p:cNvPr>
          <p:cNvSpPr>
            <a:spLocks noGrp="1"/>
          </p:cNvSpPr>
          <p:nvPr>
            <p:ph sz="quarter" idx="13"/>
          </p:nvPr>
        </p:nvSpPr>
        <p:spPr>
          <a:xfrm>
            <a:off x="1782856" y="908926"/>
            <a:ext cx="8347262" cy="5366367"/>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Introduction to Data Ethics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ethics refers to the responsible, fair, and moral use of data within organizations and digital systems. It focuses on ensuring that data is collected, stored, processed, and used in ways that respect individual rights, privacy, and human values. In today’s digital world, organizations collect huge amounts of customer and business data, making ethical handling of information extremely important.</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One of the main aspects of data ethics is privacy. Organizations must protect personal and sensitive information from unauthorized access, misuse, or exploitation. Customers should know what data is being collected, why it is being collected, and how it will be used. Transparency in data practices helps organizations build trust and maintain positive relationships with customers.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Data ethics also includes accountability and fairness. Organizations are responsible for ensuring that data is used honestly and without discrimination or bias. Decisions based on data and analytics should be fair, accurate, and ethical. Businesses must avoid misuse of personal information and ensure that data-driven systems do not create unfair treatment or harm to individuals or groups.</a:t>
            </a:r>
          </a:p>
          <a:p>
            <a:pPr marL="0" indent="0">
              <a:buNone/>
            </a:pPr>
            <a:r>
              <a:rPr lang="en-US" sz="9600" cap="none" dirty="0">
                <a:latin typeface="Aparajita" panose="02020603050405020304" pitchFamily="18" charset="0"/>
                <a:cs typeface="Aparajita" panose="02020603050405020304" pitchFamily="18" charset="0"/>
              </a:rPr>
              <a:t>.</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E1F664DE-2A70-8395-B800-10741953C043}"/>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70</a:t>
            </a:fld>
            <a:endParaRPr lang="en-US" dirty="0"/>
          </a:p>
        </p:txBody>
      </p:sp>
    </p:spTree>
    <p:extLst>
      <p:ext uri="{BB962C8B-B14F-4D97-AF65-F5344CB8AC3E}">
        <p14:creationId xmlns:p14="http://schemas.microsoft.com/office/powerpoint/2010/main" val="40032264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B5999-5B78-3571-64A0-D602429C32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797149-8AD8-0B19-7EF3-822223A10D55}"/>
              </a:ext>
            </a:extLst>
          </p:cNvPr>
          <p:cNvSpPr>
            <a:spLocks noGrp="1"/>
          </p:cNvSpPr>
          <p:nvPr>
            <p:ph sz="quarter" idx="13"/>
          </p:nvPr>
        </p:nvSpPr>
        <p:spPr>
          <a:xfrm>
            <a:off x="1782856" y="908927"/>
            <a:ext cx="8347262" cy="5061568"/>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Importance of Data Ethics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ethics is important because modern organizations collect, store, and process large amounts of personal, financial, and sensitive information from customers, employees, and business operations. As the use of digital technologies, data analytics, and artificial intelligence increases, organizations must ensure that this information is handled responsibly, fairly, and securely. Ethical use of data helps protect the rights, privacy, and interests of individuals.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Misuse of data can create serious problems for both individuals and organizations. Unauthorized sharing of personal information, data breaches, biased decision-making, or misuse of customer data can harm individuals and damage the reputation of an organization. It may also result in financial losses, legal penalties, and loss of customer trust. Therefore, organizations must follow ethical practices while collecting, storing, analyzing, and sharing </a:t>
            </a:r>
            <a:r>
              <a:rPr lang="en-US" sz="9600" cap="none" dirty="0" err="1">
                <a:latin typeface="Aparajita" panose="02020603050405020304" pitchFamily="18" charset="0"/>
                <a:cs typeface="Aparajita" panose="02020603050405020304" pitchFamily="18" charset="0"/>
              </a:rPr>
              <a:t>information.Ethical</a:t>
            </a:r>
            <a:r>
              <a:rPr lang="en-US" sz="9600" cap="none" dirty="0">
                <a:latin typeface="Aparajita" panose="02020603050405020304" pitchFamily="18" charset="0"/>
                <a:cs typeface="Aparajita" panose="02020603050405020304" pitchFamily="18" charset="0"/>
              </a:rPr>
              <a:t> data practices ensure that organizations use data responsibly and transparently. Businesses should clearly inform customers about what data is being collected, how it will be used, and why it is needed.</a:t>
            </a:r>
          </a:p>
          <a:p>
            <a:pPr marL="0" indent="0">
              <a:buNone/>
            </a:pP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FC71CB85-DE12-ED52-9128-19817397CD5B}"/>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71</a:t>
            </a:fld>
            <a:endParaRPr lang="en-US" dirty="0"/>
          </a:p>
        </p:txBody>
      </p:sp>
    </p:spTree>
    <p:extLst>
      <p:ext uri="{BB962C8B-B14F-4D97-AF65-F5344CB8AC3E}">
        <p14:creationId xmlns:p14="http://schemas.microsoft.com/office/powerpoint/2010/main" val="6586047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F7BE-1E2F-BED8-06D0-A27C37F480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D19C09-33BB-87A2-DEAA-305C743666BF}"/>
              </a:ext>
            </a:extLst>
          </p:cNvPr>
          <p:cNvSpPr>
            <a:spLocks noGrp="1"/>
          </p:cNvSpPr>
          <p:nvPr>
            <p:ph sz="quarter" idx="13"/>
          </p:nvPr>
        </p:nvSpPr>
        <p:spPr>
          <a:xfrm>
            <a:off x="1782856" y="908927"/>
            <a:ext cx="8347262" cy="5061568"/>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Principles of Data Ethics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The principles of data ethics provide guidelines for the responsible and fair use of data within organizations. These principles help ensure that personal and business information is handled securely, transparently, and ethically while respecting the rights of individuals.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One of the most important principles is privacy. Organizations must protect personal and sensitive information from unauthorized access, misuse, or exposure. Businesses should collect and store data securely and ensure that customer information remains confidential.</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Another important principle is consent. Organizations should collect data only after informing users and obtaining their permission. Customers must understand what information is being collected, why it is needed, and how it will be used. Proper consent helps maintain trust and ensures ethical data practices. Transparency is also a key principle of data ethics. Organizations should clearly explain their data collection methods, storage practices, and usage policies.</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90608A42-1AF2-97E3-F79B-F2BC6D2DF4EE}"/>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72</a:t>
            </a:fld>
            <a:endParaRPr lang="en-US" dirty="0"/>
          </a:p>
        </p:txBody>
      </p:sp>
    </p:spTree>
    <p:extLst>
      <p:ext uri="{BB962C8B-B14F-4D97-AF65-F5344CB8AC3E}">
        <p14:creationId xmlns:p14="http://schemas.microsoft.com/office/powerpoint/2010/main" val="19698605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CA949-546E-55FC-E3F5-C07119FD3D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9E0521-58AF-7515-EB7F-B98B17F7E0D2}"/>
              </a:ext>
            </a:extLst>
          </p:cNvPr>
          <p:cNvSpPr>
            <a:spLocks noGrp="1"/>
          </p:cNvSpPr>
          <p:nvPr>
            <p:ph sz="quarter" idx="13"/>
          </p:nvPr>
        </p:nvSpPr>
        <p:spPr>
          <a:xfrm>
            <a:off x="1782856" y="908927"/>
            <a:ext cx="8347262" cy="5061568"/>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Ethical Data Collection</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Ethical data collection refers to the process of gathering information in a lawful, fair, transparent, and responsible manner. Organizations collect data from customers, employees, websites, applications, surveys, and digital systems for business operations and decision-making. However, while collecting data, organizations must ensure that they respect individual privacy and follow ethical and legal standards.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One of the most important aspects of ethical data collection is obtaining user consent. Organizations should clearly inform individuals about what data is being collected, why it is needed, and how it will be used. Personal information should only be collected after receiving proper permission from users. This helps maintain transparency and builds trust between organizations and customers.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Organizations should also avoid collecting unnecessary or excessive data that is not required for business purposes. Collecting only relevant information reduces privacy risks and helps organizations manage data more responsibly.</a:t>
            </a:r>
            <a:br>
              <a:rPr lang="en-US" sz="9600" cap="none" dirty="0">
                <a:latin typeface="Aparajita" panose="02020603050405020304" pitchFamily="18" charset="0"/>
                <a:cs typeface="Aparajita" panose="02020603050405020304" pitchFamily="18" charset="0"/>
              </a:rPr>
            </a:br>
            <a:endParaRPr lang="en-US" sz="96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3E7A08C6-AED9-0C96-A03C-3480063E3FA8}"/>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73</a:t>
            </a:fld>
            <a:endParaRPr lang="en-US" dirty="0"/>
          </a:p>
        </p:txBody>
      </p:sp>
    </p:spTree>
    <p:extLst>
      <p:ext uri="{BB962C8B-B14F-4D97-AF65-F5344CB8AC3E}">
        <p14:creationId xmlns:p14="http://schemas.microsoft.com/office/powerpoint/2010/main" val="2030074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597C8-582A-882B-6E53-5533A991DF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F47014-A963-FDC0-99C0-280C85E87AA7}"/>
              </a:ext>
            </a:extLst>
          </p:cNvPr>
          <p:cNvSpPr>
            <a:spLocks noGrp="1"/>
          </p:cNvSpPr>
          <p:nvPr>
            <p:ph sz="quarter" idx="13"/>
          </p:nvPr>
        </p:nvSpPr>
        <p:spPr>
          <a:xfrm>
            <a:off x="1791820" y="818235"/>
            <a:ext cx="8347262" cy="514329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Privacy and User Consent</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Privacy is one of the most important aspects of data ethics because organizations collect and manage large amounts of personal and sensitive information from customers, employees, and users. Personal data may include names, contact details, financial information, browsing history, health records, and other confidential information. Organizations have the responsibility to protect this data from misuse, unauthorized access, cyberattacks, and data breaches.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Protecting privacy means ensuring that personal information is stored securely and used only for legitimate and authorized purposes. Organizations should implement security measures such as encryption, passwords, access controls, and secure databases to maintain confidentiality and protect user data from threats.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Another important concept related to privacy is user consent. Consent means that individuals should clearly understand what data is being collected, why it is being collected, how it will be used, and with whom it may be shared. Organizations should provide clear and transparent information about their data practices before collecting personal information. </a:t>
            </a:r>
          </a:p>
        </p:txBody>
      </p:sp>
      <p:sp>
        <p:nvSpPr>
          <p:cNvPr id="4" name="Slide Number Placeholder 3">
            <a:extLst>
              <a:ext uri="{FF2B5EF4-FFF2-40B4-BE49-F238E27FC236}">
                <a16:creationId xmlns:a16="http://schemas.microsoft.com/office/drawing/2014/main" id="{10D1F191-C3B7-9D7A-590C-572B283E015E}"/>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74</a:t>
            </a:fld>
            <a:endParaRPr lang="en-US" dirty="0"/>
          </a:p>
        </p:txBody>
      </p:sp>
    </p:spTree>
    <p:extLst>
      <p:ext uri="{BB962C8B-B14F-4D97-AF65-F5344CB8AC3E}">
        <p14:creationId xmlns:p14="http://schemas.microsoft.com/office/powerpoint/2010/main" val="27661839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84023-4DA9-85DF-995B-0B2BC7B431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0B253F-18B1-191F-06D9-E3FC13BC132B}"/>
              </a:ext>
            </a:extLst>
          </p:cNvPr>
          <p:cNvSpPr>
            <a:spLocks noGrp="1"/>
          </p:cNvSpPr>
          <p:nvPr>
            <p:ph sz="quarter" idx="13"/>
          </p:nvPr>
        </p:nvSpPr>
        <p:spPr>
          <a:xfrm>
            <a:off x="1791820" y="818235"/>
            <a:ext cx="8347262" cy="514329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GDPR and CCPA Regulations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General Data Protection Regulation (GDPR) and California Consumer Privacy Act (CCPA) are two of the most important data protection and privacy regulations in the modern digital world. These laws were introduced to protect personal information and give individuals greater control over how organizations collect, store, and use their data.</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GDPR is a data protection regulation introduced by the European Union (EU). It protects the personal data and privacy rights of EU citizens. Under GDPR, organizations must collect data lawfully, obtain clear user consent, maintain transparency about data usage, and protect information from unauthorized access or misuse. GDPR also gives individuals rights such as accessing their data, correcting inaccurate information, and requesting deletion of personal data, commonly known as the “right to be forgotten.</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”CCPA is a privacy law introduced in the state of California, United States. It focuses on protecting consumer privacy rights and increasing transparency in data collection practices.</a:t>
            </a:r>
          </a:p>
        </p:txBody>
      </p:sp>
      <p:sp>
        <p:nvSpPr>
          <p:cNvPr id="4" name="Slide Number Placeholder 3">
            <a:extLst>
              <a:ext uri="{FF2B5EF4-FFF2-40B4-BE49-F238E27FC236}">
                <a16:creationId xmlns:a16="http://schemas.microsoft.com/office/drawing/2014/main" id="{1A982698-C9E7-BF90-7097-1995F45964C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75</a:t>
            </a:fld>
            <a:endParaRPr lang="en-US" dirty="0"/>
          </a:p>
        </p:txBody>
      </p:sp>
    </p:spTree>
    <p:extLst>
      <p:ext uri="{BB962C8B-B14F-4D97-AF65-F5344CB8AC3E}">
        <p14:creationId xmlns:p14="http://schemas.microsoft.com/office/powerpoint/2010/main" val="12251135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66105-709E-C4AC-FAF8-114950E60E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DB499F-D222-9FA4-00EA-EF49289B7A39}"/>
              </a:ext>
            </a:extLst>
          </p:cNvPr>
          <p:cNvSpPr>
            <a:spLocks noGrp="1"/>
          </p:cNvSpPr>
          <p:nvPr>
            <p:ph sz="quarter" idx="13"/>
          </p:nvPr>
        </p:nvSpPr>
        <p:spPr>
          <a:xfrm>
            <a:off x="1791820" y="818235"/>
            <a:ext cx="8347262" cy="5143293"/>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Responsible Data Practices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Responsible data practices refer to the ethical, secure, and transparent handling of data within an organization. These practices ensure that personal and business information is collected, stored, processed, and used in a fair and lawful manner while respecting user privacy and individual rights. In today’s digital environment, organizations handle large amounts of sensitive information, making responsible data management extremely important.</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One of the key aspects of responsible data practices is transparency. Organizations should clearly inform users about what data is being collected, why it is needed, how it will be used, and with whom it may be shared. Transparent communication helps customers understand organizational data practices and builds trust between businesses and users.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Protecting user privacy is another important part of responsible data practices. Organizations must implement strong security measures such as encryption, passwords, authentication systems, and access controls to protect sensitive information from unauthorized access, cyberattacks, and misuse.</a:t>
            </a:r>
          </a:p>
        </p:txBody>
      </p:sp>
      <p:sp>
        <p:nvSpPr>
          <p:cNvPr id="4" name="Slide Number Placeholder 3">
            <a:extLst>
              <a:ext uri="{FF2B5EF4-FFF2-40B4-BE49-F238E27FC236}">
                <a16:creationId xmlns:a16="http://schemas.microsoft.com/office/drawing/2014/main" id="{095CC31E-6390-B85D-3621-CCAEFFE4BB5F}"/>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76</a:t>
            </a:fld>
            <a:endParaRPr lang="en-US" dirty="0"/>
          </a:p>
        </p:txBody>
      </p:sp>
    </p:spTree>
    <p:extLst>
      <p:ext uri="{BB962C8B-B14F-4D97-AF65-F5344CB8AC3E}">
        <p14:creationId xmlns:p14="http://schemas.microsoft.com/office/powerpoint/2010/main" val="17668747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5CC9D-2CA9-A831-9220-5AFA89C930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BDD998-0B92-99B8-A718-4E6B87B9A9BE}"/>
              </a:ext>
            </a:extLst>
          </p:cNvPr>
          <p:cNvSpPr>
            <a:spLocks noGrp="1"/>
          </p:cNvSpPr>
          <p:nvPr>
            <p:ph sz="quarter" idx="13"/>
          </p:nvPr>
        </p:nvSpPr>
        <p:spPr>
          <a:xfrm>
            <a:off x="1791820" y="818235"/>
            <a:ext cx="8347262" cy="5474989"/>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Data Governance in Real-Life Organizations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Many large organizations use strong data governance frameworks to manage and protect customer and business information effectively. Companies such as Google, Microsoft, and Amazon handle massive amounts of data every day through websites, cloud services, online platforms, and digital applications. To ensure that this data remains accurate, secure, and reliable, these companies implement advanced data governance systems, security policies, and data management standards.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These organizations use governance frameworks to control data access, maintain data quality, monitor compliance, and protect sensitive customer information from cyber threats and unauthorized access. They invest heavily in technologies such as encryption, authentication systems, cloud security, backup systems, and artificial intelligence-based monitoring tools to improve data protection and operational efficiency.</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Banks and financial institutions also use strong data governance practices because they manage highly sensitive information such as customer accounts, transactions, financial records, and payment details. </a:t>
            </a:r>
          </a:p>
        </p:txBody>
      </p:sp>
      <p:sp>
        <p:nvSpPr>
          <p:cNvPr id="4" name="Slide Number Placeholder 3">
            <a:extLst>
              <a:ext uri="{FF2B5EF4-FFF2-40B4-BE49-F238E27FC236}">
                <a16:creationId xmlns:a16="http://schemas.microsoft.com/office/drawing/2014/main" id="{E9A84FDB-0D4D-5977-A040-4D35767E9AEF}"/>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77</a:t>
            </a:fld>
            <a:endParaRPr lang="en-US" dirty="0"/>
          </a:p>
        </p:txBody>
      </p:sp>
    </p:spTree>
    <p:extLst>
      <p:ext uri="{BB962C8B-B14F-4D97-AF65-F5344CB8AC3E}">
        <p14:creationId xmlns:p14="http://schemas.microsoft.com/office/powerpoint/2010/main" val="23751043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DB3AD-CF79-8E40-1B27-77073A0965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5918EB-4151-0BC1-1F1E-E87F6EBF0EC1}"/>
              </a:ext>
            </a:extLst>
          </p:cNvPr>
          <p:cNvSpPr>
            <a:spLocks noGrp="1"/>
          </p:cNvSpPr>
          <p:nvPr>
            <p:ph sz="quarter" idx="13"/>
          </p:nvPr>
        </p:nvSpPr>
        <p:spPr>
          <a:xfrm>
            <a:off x="1809749" y="897693"/>
            <a:ext cx="8347262" cy="4893507"/>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Future of Data Governance and Ethics</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As technology continues to evolve rapidly, the importance of data governance and data ethics will continue to grow in modern organizations. Advanced technologies such as artificial intelligence (AI), big data, machine learning, cloud computing, and the Internet of Things (IoT) generate and process massive amounts of information every day. Managing this data properly has become essential for maintaining security, privacy, accuracy, and trust in digital systems.</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In the future, organizations will rely even more on data-driven technologies to improve business operations, customer experiences, and decision-making. However, the increasing use of data also creates greater risks related to cyberattacks, privacy violations, data misuse, and unethical practices. To address these challenges, businesses will need stronger data governance systems that ensure proper control, security, quality management, and compliance with legal regulations.</a:t>
            </a:r>
          </a:p>
        </p:txBody>
      </p:sp>
      <p:sp>
        <p:nvSpPr>
          <p:cNvPr id="4" name="Slide Number Placeholder 3">
            <a:extLst>
              <a:ext uri="{FF2B5EF4-FFF2-40B4-BE49-F238E27FC236}">
                <a16:creationId xmlns:a16="http://schemas.microsoft.com/office/drawing/2014/main" id="{1CF240BD-8E6D-99E3-B46B-741B81CCAF18}"/>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78</a:t>
            </a:fld>
            <a:endParaRPr lang="en-US" dirty="0"/>
          </a:p>
        </p:txBody>
      </p:sp>
    </p:spTree>
    <p:extLst>
      <p:ext uri="{BB962C8B-B14F-4D97-AF65-F5344CB8AC3E}">
        <p14:creationId xmlns:p14="http://schemas.microsoft.com/office/powerpoint/2010/main" val="2223626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3D0D2-5941-5937-6641-5F0ABCEAE1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7E78C6-8490-422D-F6CC-0ABFFFEBE267}"/>
              </a:ext>
            </a:extLst>
          </p:cNvPr>
          <p:cNvSpPr>
            <a:spLocks noGrp="1"/>
          </p:cNvSpPr>
          <p:nvPr>
            <p:ph sz="quarter" idx="13"/>
          </p:nvPr>
        </p:nvSpPr>
        <p:spPr>
          <a:xfrm>
            <a:off x="2123514" y="996306"/>
            <a:ext cx="8239686" cy="4382517"/>
          </a:xfrm>
        </p:spPr>
        <p:txBody>
          <a:bodyPr>
            <a:noAutofit/>
          </a:bodyPr>
          <a:lstStyle/>
          <a:p>
            <a:pPr>
              <a:buNone/>
            </a:pPr>
            <a:br>
              <a:rPr lang="en-US" sz="2400" cap="none" dirty="0">
                <a:solidFill>
                  <a:srgbClr val="7030A0"/>
                </a:solidFill>
                <a:latin typeface="Aparajita" panose="02020603050405020304" pitchFamily="18" charset="0"/>
                <a:cs typeface="Aparajita" panose="02020603050405020304" pitchFamily="18" charset="0"/>
              </a:rPr>
            </a:br>
            <a:r>
              <a:rPr lang="en-US" sz="2400" cap="none" dirty="0">
                <a:latin typeface="Aparajita" panose="02020603050405020304" pitchFamily="18" charset="0"/>
                <a:cs typeface="Aparajita" panose="02020603050405020304" pitchFamily="18" charset="0"/>
              </a:rPr>
              <a:t>Data ethics will also become more important as organizations use AI and automated systems for decision-making. Businesses must ensure that these technologies are fair, transparent, unbiased, and respectful of individual rights. Ethical frameworks will help organizations prevent discrimination, misuse of personal information, and unfair treatment caused by data-driven systems.</a:t>
            </a:r>
            <a:br>
              <a:rPr lang="en-US" sz="2400" cap="none" dirty="0">
                <a:latin typeface="Aparajita" panose="02020603050405020304" pitchFamily="18" charset="0"/>
                <a:cs typeface="Aparajita" panose="02020603050405020304" pitchFamily="18" charset="0"/>
              </a:rPr>
            </a:br>
            <a:endParaRPr lang="en-US" sz="2400" cap="none" dirty="0">
              <a:latin typeface="Aparajita" panose="02020603050405020304" pitchFamily="18" charset="0"/>
              <a:cs typeface="Aparajita" panose="02020603050405020304" pitchFamily="18" charset="0"/>
            </a:endParaRPr>
          </a:p>
          <a:p>
            <a:pPr>
              <a:buNone/>
            </a:pPr>
            <a:r>
              <a:rPr lang="en-US" sz="2400" cap="none" dirty="0">
                <a:latin typeface="Aparajita" panose="02020603050405020304" pitchFamily="18" charset="0"/>
                <a:cs typeface="Aparajita" panose="02020603050405020304" pitchFamily="18" charset="0"/>
              </a:rPr>
              <a:t>   Governments and regulatory bodies are also expected to introduce stricter data privacy and protection laws in the future. Organizations will need to continuously improve their governance policies, security systems, and compliance practices to meet these legal requirements and maintain customer trust.</a:t>
            </a:r>
          </a:p>
          <a:p>
            <a:pPr marL="0" indent="0">
              <a:buNone/>
            </a:pPr>
            <a:endParaRPr lang="en-US" sz="2400" cap="none" dirty="0">
              <a:latin typeface="Aparajita" panose="02020603050405020304"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658D8E42-3AF6-EF83-09C5-8B560184696B}"/>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79</a:t>
            </a:fld>
            <a:endParaRPr lang="en-US" dirty="0"/>
          </a:p>
        </p:txBody>
      </p:sp>
    </p:spTree>
    <p:extLst>
      <p:ext uri="{BB962C8B-B14F-4D97-AF65-F5344CB8AC3E}">
        <p14:creationId xmlns:p14="http://schemas.microsoft.com/office/powerpoint/2010/main" val="36924586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8282F-9454-38B9-A126-F3A3672802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197A94-2556-52AE-7BDA-18459EE7B384}"/>
              </a:ext>
            </a:extLst>
          </p:cNvPr>
          <p:cNvSpPr>
            <a:spLocks noGrp="1"/>
          </p:cNvSpPr>
          <p:nvPr>
            <p:ph sz="quarter" idx="13"/>
          </p:nvPr>
        </p:nvSpPr>
        <p:spPr>
          <a:xfrm>
            <a:off x="1818714" y="987340"/>
            <a:ext cx="8347262" cy="4633531"/>
          </a:xfrm>
        </p:spPr>
        <p:txBody>
          <a:bodyPr>
            <a:normAutofit fontScale="25000" lnSpcReduction="20000"/>
          </a:bodyPr>
          <a:lstStyle/>
          <a:p>
            <a:pPr marL="0" indent="0">
              <a:buNone/>
            </a:pPr>
            <a:br>
              <a:rPr lang="en-US" sz="9600" b="1" dirty="0">
                <a:solidFill>
                  <a:srgbClr val="7030A0"/>
                </a:solidFill>
                <a:latin typeface="Aparajita" panose="02020603050405020304" pitchFamily="18" charset="0"/>
                <a:cs typeface="Aparajita" panose="02020603050405020304" pitchFamily="18" charset="0"/>
              </a:rPr>
            </a:br>
            <a:r>
              <a:rPr lang="en-US" sz="9600" dirty="0">
                <a:solidFill>
                  <a:srgbClr val="7030A0"/>
                </a:solidFill>
                <a:latin typeface="Aparajita" panose="02020603050405020304" pitchFamily="18" charset="0"/>
                <a:cs typeface="Aparajita" panose="02020603050405020304" pitchFamily="18" charset="0"/>
              </a:rPr>
              <a:t>Conclusion</a:t>
            </a:r>
            <a:br>
              <a:rPr lang="en-US" sz="6000" cap="none" dirty="0">
                <a:solidFill>
                  <a:srgbClr val="7030A0"/>
                </a:solidFill>
                <a:latin typeface="Aparajita" panose="02020603050405020304" pitchFamily="18" charset="0"/>
                <a:cs typeface="Aparajita" panose="02020603050405020304" pitchFamily="18" charset="0"/>
              </a:rPr>
            </a:br>
            <a:br>
              <a:rPr lang="en-US" sz="7400" cap="none" dirty="0">
                <a:solidFill>
                  <a:srgbClr val="7030A0"/>
                </a:solidFill>
                <a:latin typeface="Aparajita" panose="02020603050405020304" pitchFamily="18" charset="0"/>
                <a:cs typeface="Aparajita" panose="02020603050405020304" pitchFamily="18" charset="0"/>
              </a:rPr>
            </a:br>
            <a:r>
              <a:rPr lang="en-US" sz="9600" cap="none" dirty="0">
                <a:solidFill>
                  <a:srgbClr val="7030A0"/>
                </a:solidFill>
                <a:latin typeface="Aparajita" panose="02020603050405020304" pitchFamily="18" charset="0"/>
                <a:cs typeface="Aparajita" panose="02020603050405020304" pitchFamily="18" charset="0"/>
              </a:rPr>
              <a:t>              </a:t>
            </a:r>
            <a:r>
              <a:rPr lang="en-US" sz="9600" cap="none" dirty="0">
                <a:latin typeface="Aparajita" panose="02020603050405020304" pitchFamily="18" charset="0"/>
                <a:cs typeface="Aparajita" panose="02020603050405020304" pitchFamily="18" charset="0"/>
              </a:rPr>
              <a:t>Data governance and data ethics are essential for managing organizational information responsibly, securely, and effectively in today’s digital world. Data governance focuses on maintaining the accuracy, consistency, quality, security, and proper management of data throughout its lifecycle. It helps organizations create policies, standards, and procedures that ensure information is handled correctly and remains reliable for business operations and decision-making.</a:t>
            </a:r>
            <a:br>
              <a:rPr lang="en-US" sz="9600" cap="none" dirty="0">
                <a:latin typeface="Aparajita" panose="02020603050405020304" pitchFamily="18" charset="0"/>
                <a:cs typeface="Aparajita" panose="02020603050405020304" pitchFamily="18" charset="0"/>
              </a:rPr>
            </a:br>
            <a:br>
              <a:rPr lang="en-US" sz="9600" cap="none" dirty="0">
                <a:latin typeface="Aparajita" panose="02020603050405020304" pitchFamily="18" charset="0"/>
                <a:cs typeface="Aparajita" panose="02020603050405020304" pitchFamily="18" charset="0"/>
              </a:rPr>
            </a:br>
            <a:r>
              <a:rPr lang="en-US" sz="9600" cap="none" dirty="0">
                <a:latin typeface="Aparajita" panose="02020603050405020304" pitchFamily="18" charset="0"/>
                <a:cs typeface="Aparajita" panose="02020603050405020304" pitchFamily="18" charset="0"/>
              </a:rPr>
              <a:t>Data ethics, on the other hand, ensures that data is collected, stored, processed, and used in a fair, transparent, and responsible manner. Ethical practices protect user privacy, maintain accountability, and ensure that organizations respect individual rights while handling sensitive information. Together, data governance and ethics help organizations build customer trust, improve operational efficiency, reduce risks, and maintain compliance with legal and regulatory requirements.</a:t>
            </a:r>
          </a:p>
        </p:txBody>
      </p:sp>
      <p:sp>
        <p:nvSpPr>
          <p:cNvPr id="4" name="Slide Number Placeholder 3">
            <a:extLst>
              <a:ext uri="{FF2B5EF4-FFF2-40B4-BE49-F238E27FC236}">
                <a16:creationId xmlns:a16="http://schemas.microsoft.com/office/drawing/2014/main" id="{FD65E7D0-0ABF-6EFA-1FB2-EE32444D4DB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80</a:t>
            </a:fld>
            <a:endParaRPr lang="en-US" dirty="0"/>
          </a:p>
        </p:txBody>
      </p:sp>
    </p:spTree>
    <p:extLst>
      <p:ext uri="{BB962C8B-B14F-4D97-AF65-F5344CB8AC3E}">
        <p14:creationId xmlns:p14="http://schemas.microsoft.com/office/powerpoint/2010/main" val="555446933"/>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{B9C64319-E313-4CEF-83A3-D194A32FAC74}TF1ed9553b-00c4-4092-846a-c8f7f2908f3beecd942f_win32-8e33096c3cfc</Template>
  <TotalTime>462</TotalTime>
  <Words>13767</Words>
  <Application>Microsoft Office PowerPoint</Application>
  <PresentationFormat>Widescreen</PresentationFormat>
  <Paragraphs>410</Paragraphs>
  <Slides>80</Slides>
  <Notes>80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80</vt:i4>
      </vt:variant>
    </vt:vector>
  </HeadingPairs>
  <TitlesOfParts>
    <vt:vector size="87" baseType="lpstr">
      <vt:lpstr>Aparajita</vt:lpstr>
      <vt:lpstr>Arial</vt:lpstr>
      <vt:lpstr>Calibri</vt:lpstr>
      <vt:lpstr>Courier New</vt:lpstr>
      <vt:lpstr>Gill Sans Nova Light</vt:lpstr>
      <vt:lpstr>Sagona Book</vt:lpstr>
      <vt:lpstr>Custom</vt:lpstr>
      <vt:lpstr> NAME:- AMAN ANAND   ANUDIP ID:- AF05162474 IT(DP) INFORMATION TECHNOLOGY AND DATA PROCESSING </vt:lpstr>
      <vt:lpstr>INTRODUCTION TO IT AND BUSINESS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TYPES, SOURCES, AND LIFECYCLE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BUSINESS ANALYST  ROLE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VS INFORMATION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INFORMATION-BASED DECISION MAKING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DISCUSSIONS / REAL-LIFE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DATA GOVERNANCE &amp; DATA ETHICS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 Anand</dc:creator>
  <cp:lastModifiedBy>Aman Anand</cp:lastModifiedBy>
  <cp:revision>13</cp:revision>
  <dcterms:created xsi:type="dcterms:W3CDTF">2026-05-05T12:55:03Z</dcterms:created>
  <dcterms:modified xsi:type="dcterms:W3CDTF">2026-05-13T06:11:27Z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